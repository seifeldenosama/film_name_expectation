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 Id="rId4" Type="http://schemas.openxmlformats.org/officeDocument/2006/relationships/custom-properties" Target="docProps/custom.xml" />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24384000" cy="13716000"/>
  <p:notesSz cx="13716000" cy="24384000"/>
  <p:embeddedFontLst>
    <p:embeddedFont>
      <p:font typeface="Quattrocento Sans" charset="-122" pitchFamily="34"/>
      <p:regular r:id="rId23"/>
    </p:embeddedFont>
    <p:embeddedFont>
      <p:font typeface="Liter" charset="-122" pitchFamily="34"/>
      <p:regular r:id="rId24"/>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 Id="rId23" Type="http://schemas.openxmlformats.org/officeDocument/2006/relationships/font" Target="fonts/font1.fntdata"/><Relationship Id="rId24"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gradFill rotWithShape="1" flip="none">
          <a:gsLst>
            <a:gs pos="0">
              <a:srgbClr val="FFFFFF"/>
            </a:gs>
            <a:gs pos="50000">
              <a:srgbClr val="EAF4FF"/>
            </a:gs>
            <a:gs pos="100000">
              <a:srgbClr val="C7E2FF"/>
            </a:gs>
          </a:gsLst>
          <a:path path="circle"/>
        </a:gradFill>
      </p:bgPr>
    </p:bg>
    <p:spTree>
      <p:nvGrpSpPr>
        <p:cNvPr id="1" name=""/>
        <p:cNvGrpSpPr/>
        <p:nvPr/>
      </p:nvGrpSpPr>
      <p:grpSpPr>
        <a:xfrm>
          <a:off x="0" y="0"/>
          <a:ext cx="0" cy="0"/>
          <a:chOff x="0" y="0"/>
          <a:chExt cx="0" cy="0"/>
        </a:xfrm>
      </p:grpSpPr>
      <p:sp>
        <p:nvSpPr>
          <p:cNvPr id="2" name="Shape 0"/>
          <p:cNvSpPr/>
          <p:nvPr/>
        </p:nvSpPr>
        <p:spPr>
          <a:xfrm>
            <a:off x="1117600" y="2286000"/>
            <a:ext cx="22148800" cy="4826000"/>
          </a:xfrm>
          <a:prstGeom prst="rect">
            <a:avLst/>
          </a:prstGeom>
          <a:solidFill>
            <a:srgbClr val="EAF4FF">
              <a:alpha val="50196"/>
            </a:srgbClr>
          </a:solidFill>
          <a:ln/>
        </p:spPr>
      </p:sp>
      <p:sp>
        <p:nvSpPr>
          <p:cNvPr id="3" name="Text 1"/>
          <p:cNvSpPr/>
          <p:nvPr/>
        </p:nvSpPr>
        <p:spPr>
          <a:xfrm>
            <a:off x="1244600" y="3556000"/>
            <a:ext cx="21894800" cy="1727200"/>
          </a:xfrm>
          <a:prstGeom prst="rect">
            <a:avLst/>
          </a:prstGeom>
          <a:noFill/>
          <a:ln/>
        </p:spPr>
        <p:txBody>
          <a:bodyPr wrap="none" lIns="0" tIns="0" rIns="0" bIns="0" rtlCol="0" anchor="ctr"/>
          <a:lstStyle/>
          <a:p>
            <a:pPr algn="ctr">
              <a:lnSpc>
                <a:spcPct val="140000"/>
              </a:lnSpc>
            </a:pPr>
            <a:r>
              <a:rPr lang="en-US" sz="9400" spc="1000" kern="0" dirty="0">
                <a:solidFill>
                  <a:srgbClr val="000000"/>
                </a:solidFill>
                <a:latin typeface="QuattrocentoSans" pitchFamily="34" charset="0"/>
                <a:ea typeface="QuattrocentoSans" pitchFamily="34" charset="-122"/>
                <a:cs typeface="QuattrocentoSans" pitchFamily="34" charset="-120"/>
              </a:rPr>
              <a:t>Film Guessing Game</a:t>
            </a:r>
            <a:endParaRPr lang="en-US" sz="9400" dirty="0"/>
          </a:p>
        </p:txBody>
      </p:sp>
      <p:sp>
        <p:nvSpPr>
          <p:cNvPr id="4" name="Text 2"/>
          <p:cNvSpPr/>
          <p:nvPr/>
        </p:nvSpPr>
        <p:spPr>
          <a:xfrm>
            <a:off x="1244600" y="5588000"/>
            <a:ext cx="21894800" cy="889000"/>
          </a:xfrm>
          <a:prstGeom prst="rect">
            <a:avLst/>
          </a:prstGeom>
          <a:noFill/>
          <a:ln/>
        </p:spPr>
        <p:txBody>
          <a:bodyPr wrap="none" lIns="0" tIns="0" rIns="0" bIns="0" rtlCol="0" anchor="ctr"/>
          <a:lstStyle/>
          <a:p>
            <a:pPr algn="ctr">
              <a:lnSpc>
                <a:spcPct val="100000"/>
              </a:lnSpc>
            </a:pPr>
            <a:r>
              <a:rPr lang="en-US" sz="3600" dirty="0">
                <a:solidFill>
                  <a:srgbClr val="004AAD"/>
                </a:solidFill>
                <a:latin typeface="Quattrocento Sans" pitchFamily="34" charset="0"/>
                <a:ea typeface="Quattrocento Sans" pitchFamily="34" charset="-122"/>
                <a:cs typeface="Quattrocento Sans" pitchFamily="34" charset="-120"/>
              </a:rPr>
              <a:t>An Interactive JavaFX Desktop Application</a:t>
            </a:r>
            <a:endParaRPr lang="en-US" sz="1600" dirty="0"/>
          </a:p>
        </p:txBody>
      </p:sp>
      <p:sp>
        <p:nvSpPr>
          <p:cNvPr id="5" name="Shape 3"/>
          <p:cNvSpPr/>
          <p:nvPr/>
        </p:nvSpPr>
        <p:spPr>
          <a:xfrm>
            <a:off x="1371600" y="8953500"/>
            <a:ext cx="5689600" cy="1028700"/>
          </a:xfrm>
          <a:prstGeom prst="rect">
            <a:avLst/>
          </a:prstGeom>
          <a:solidFill>
            <a:srgbClr val="7EC8E3"/>
          </a:solidFill>
          <a:ln/>
        </p:spPr>
      </p:sp>
      <p:sp>
        <p:nvSpPr>
          <p:cNvPr id="6" name="Shape 4"/>
          <p:cNvSpPr/>
          <p:nvPr/>
        </p:nvSpPr>
        <p:spPr>
          <a:xfrm>
            <a:off x="1371600" y="8953500"/>
            <a:ext cx="228600" cy="1028700"/>
          </a:xfrm>
          <a:prstGeom prst="rect">
            <a:avLst/>
          </a:prstGeom>
          <a:solidFill>
            <a:srgbClr val="48B2FF"/>
          </a:solidFill>
          <a:ln/>
        </p:spPr>
      </p:sp>
      <p:sp>
        <p:nvSpPr>
          <p:cNvPr id="7" name="Text 5"/>
          <p:cNvSpPr/>
          <p:nvPr/>
        </p:nvSpPr>
        <p:spPr>
          <a:xfrm>
            <a:off x="1803400" y="9144000"/>
            <a:ext cx="5080000" cy="635000"/>
          </a:xfrm>
          <a:prstGeom prst="rect">
            <a:avLst/>
          </a:prstGeom>
          <a:noFill/>
          <a:ln/>
        </p:spPr>
        <p:txBody>
          <a:bodyPr wrap="none" lIns="0" tIns="0" rIns="0" bIns="0" rtlCol="0" anchor="ctr"/>
          <a:lstStyle/>
          <a:p>
            <a:pPr>
              <a:lnSpc>
                <a:spcPct val="100000"/>
              </a:lnSpc>
            </a:pPr>
            <a:r>
              <a:rPr lang="en-US" sz="2800" dirty="0">
                <a:solidFill>
                  <a:srgbClr val="000000"/>
                </a:solidFill>
                <a:latin typeface="Liter" pitchFamily="34" charset="0"/>
                <a:ea typeface="Liter" pitchFamily="34" charset="-122"/>
                <a:cs typeface="Liter" pitchFamily="34" charset="-120"/>
              </a:rPr>
              <a:t>JavaFX + MySQL</a:t>
            </a:r>
            <a:endParaRPr lang="en-US" sz="1600" dirty="0"/>
          </a:p>
        </p:txBody>
      </p:sp>
      <p:sp>
        <p:nvSpPr>
          <p:cNvPr id="8" name="Shape 6"/>
          <p:cNvSpPr/>
          <p:nvPr/>
        </p:nvSpPr>
        <p:spPr>
          <a:xfrm>
            <a:off x="7696200" y="8953500"/>
            <a:ext cx="5689600" cy="1028700"/>
          </a:xfrm>
          <a:prstGeom prst="rect">
            <a:avLst/>
          </a:prstGeom>
          <a:solidFill>
            <a:srgbClr val="7EC8E3"/>
          </a:solidFill>
          <a:ln/>
        </p:spPr>
      </p:sp>
      <p:sp>
        <p:nvSpPr>
          <p:cNvPr id="9" name="Shape 7"/>
          <p:cNvSpPr/>
          <p:nvPr/>
        </p:nvSpPr>
        <p:spPr>
          <a:xfrm>
            <a:off x="7696200" y="8953500"/>
            <a:ext cx="228600" cy="1028700"/>
          </a:xfrm>
          <a:prstGeom prst="rect">
            <a:avLst/>
          </a:prstGeom>
          <a:solidFill>
            <a:srgbClr val="48B2FF"/>
          </a:solidFill>
          <a:ln/>
        </p:spPr>
      </p:sp>
      <p:sp>
        <p:nvSpPr>
          <p:cNvPr id="10" name="Text 8"/>
          <p:cNvSpPr/>
          <p:nvPr/>
        </p:nvSpPr>
        <p:spPr>
          <a:xfrm>
            <a:off x="8128000" y="9144000"/>
            <a:ext cx="5080000" cy="635000"/>
          </a:xfrm>
          <a:prstGeom prst="rect">
            <a:avLst/>
          </a:prstGeom>
          <a:noFill/>
          <a:ln/>
        </p:spPr>
        <p:txBody>
          <a:bodyPr wrap="none" lIns="0" tIns="0" rIns="0" bIns="0" rtlCol="0" anchor="ctr"/>
          <a:lstStyle/>
          <a:p>
            <a:pPr>
              <a:lnSpc>
                <a:spcPct val="100000"/>
              </a:lnSpc>
            </a:pPr>
            <a:r>
              <a:rPr lang="en-US" sz="2800" dirty="0">
                <a:solidFill>
                  <a:srgbClr val="000000"/>
                </a:solidFill>
                <a:latin typeface="Liter" pitchFamily="34" charset="0"/>
                <a:ea typeface="Liter" pitchFamily="34" charset="-122"/>
                <a:cs typeface="Liter" pitchFamily="34" charset="-120"/>
              </a:rPr>
              <a:t>Client-Server Architecture</a:t>
            </a:r>
            <a:endParaRPr lang="en-US" sz="1600" dirty="0"/>
          </a:p>
        </p:txBody>
      </p:sp>
      <p:sp>
        <p:nvSpPr>
          <p:cNvPr id="11" name="Text 9"/>
          <p:cNvSpPr/>
          <p:nvPr/>
        </p:nvSpPr>
        <p:spPr>
          <a:xfrm>
            <a:off x="1244600" y="1524000"/>
            <a:ext cx="21894800" cy="1524000"/>
          </a:xfrm>
          <a:prstGeom prst="rect">
            <a:avLst/>
          </a:prstGeom>
          <a:noFill/>
          <a:ln/>
        </p:spPr>
        <p:txBody>
          <a:bodyPr wrap="none" lIns="0" tIns="0" rIns="0" bIns="0" rtlCol="0" anchor="t"/>
          <a:lstStyle/>
          <a:p>
            <a:pPr algn="ctr">
              <a:lnSpc>
                <a:spcPct val="120000"/>
              </a:lnSpc>
            </a:pPr>
            <a:r>
              <a:rPr lang="en-US" sz="10000" dirty="0">
                <a:solidFill>
                  <a:srgbClr val="004AAD">
                    <a:alpha val="9412"/>
                  </a:srgbClr>
                </a:solidFill>
                <a:latin typeface="Quattrocento Sans" pitchFamily="34" charset="0"/>
                <a:ea typeface="Quattrocento Sans" pitchFamily="34" charset="-122"/>
                <a:cs typeface="Quattrocento Sans" pitchFamily="34" charset="-120"/>
              </a:rPr>
              <a:t>FILM GAME PROJECT</a:t>
            </a:r>
            <a:endParaRPr lang="en-US" sz="1600" dirty="0"/>
          </a:p>
        </p:txBody>
      </p:sp>
      <p:sp>
        <p:nvSpPr>
          <p:cNvPr id="12" name="Shape 10"/>
          <p:cNvSpPr/>
          <p:nvPr/>
        </p:nvSpPr>
        <p:spPr>
          <a:xfrm>
            <a:off x="1371600" y="12026900"/>
            <a:ext cx="21640800" cy="0"/>
          </a:xfrm>
          <a:prstGeom prst="straightConnector1">
            <a:avLst/>
          </a:prstGeom>
          <a:noFill/>
          <a:ln w="19050">
            <a:solidFill>
              <a:srgbClr val="000000"/>
            </a:solidFill>
            <a:prstDash val="solid"/>
            <a:headEnd type="none"/>
            <a:tailEnd type="none"/>
          </a:ln>
        </p:spPr>
      </p:sp>
      <p:sp>
        <p:nvSpPr>
          <p:cNvPr id="13" name="Text 11"/>
          <p:cNvSpPr/>
          <p:nvPr/>
        </p:nvSpPr>
        <p:spPr>
          <a:xfrm>
            <a:off x="1244600" y="12217400"/>
            <a:ext cx="21894800" cy="635000"/>
          </a:xfrm>
          <a:prstGeom prst="rect">
            <a:avLst/>
          </a:prstGeom>
          <a:noFill/>
          <a:ln/>
        </p:spPr>
        <p:txBody>
          <a:bodyPr wrap="none" lIns="0" tIns="0" rIns="0" bIns="0" rtlCol="0" anchor="ctr"/>
          <a:lstStyle/>
          <a:p>
            <a:pPr algn="ctr">
              <a:lnSpc>
                <a:spcPct val="100000"/>
              </a:lnSpc>
            </a:pPr>
            <a:r>
              <a:rPr lang="en-US" sz="2400" spc="600" kern="0" dirty="0">
                <a:solidFill>
                  <a:srgbClr val="737373"/>
                </a:solidFill>
                <a:latin typeface="Liter" pitchFamily="34" charset="0"/>
                <a:ea typeface="Liter" pitchFamily="34" charset="-122"/>
                <a:cs typeface="Liter" pitchFamily="34" charset="-120"/>
              </a:rPr>
              <a:t>INTERACTIVE DESKTOP APPLICATION</a:t>
            </a:r>
            <a:endParaRPr lang="en-US" sz="1600" dirty="0"/>
          </a:p>
        </p:txBody>
      </p:sp>
    </p:spTree>
  </p:cSld>
  <p:clrMapOvr>
    <a:masterClrMapping/>
  </p:clrMapOvr>
  <p:transition>
    <p:fade/>
    <p:spd val="med"/>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gradFill rotWithShape="1" flip="none">
          <a:gsLst>
            <a:gs pos="0">
              <a:srgbClr val="FFFFFF"/>
            </a:gs>
            <a:gs pos="50000">
              <a:srgbClr val="EAF4FF"/>
            </a:gs>
            <a:gs pos="100000">
              <a:srgbClr val="C7E2FF"/>
            </a:gs>
          </a:gsLst>
          <a:path path="circle"/>
        </a:gradFill>
      </p:bgPr>
    </p:bg>
    <p:spTree>
      <p:nvGrpSpPr>
        <p:cNvPr id="1" name=""/>
        <p:cNvGrpSpPr/>
        <p:nvPr/>
      </p:nvGrpSpPr>
      <p:grpSpPr>
        <a:xfrm>
          <a:off x="0" y="0"/>
          <a:ext cx="0" cy="0"/>
          <a:chOff x="0" y="0"/>
          <a:chExt cx="0" cy="0"/>
        </a:xfrm>
      </p:grpSpPr>
      <p:sp>
        <p:nvSpPr>
          <p:cNvPr id="2" name="Text 0"/>
          <p:cNvSpPr/>
          <p:nvPr/>
        </p:nvSpPr>
        <p:spPr>
          <a:xfrm>
            <a:off x="1244600" y="1485900"/>
            <a:ext cx="12484100" cy="2527300"/>
          </a:xfrm>
          <a:prstGeom prst="rect">
            <a:avLst/>
          </a:prstGeom>
          <a:noFill/>
          <a:ln/>
        </p:spPr>
        <p:txBody>
          <a:bodyPr wrap="none" lIns="0" tIns="0" rIns="0" bIns="0" rtlCol="0" anchor="t"/>
          <a:lstStyle/>
          <a:p>
            <a:pPr>
              <a:lnSpc>
                <a:spcPct val="100000"/>
              </a:lnSpc>
            </a:pPr>
            <a:r>
              <a:rPr lang="en-US" sz="13600" dirty="0">
                <a:solidFill>
                  <a:srgbClr val="000000"/>
                </a:solidFill>
                <a:latin typeface="Quattrocento Sans" pitchFamily="34" charset="0"/>
                <a:ea typeface="Quattrocento Sans" pitchFamily="34" charset="-122"/>
                <a:cs typeface="Quattrocento Sans" pitchFamily="34" charset="-120"/>
              </a:rPr>
              <a:t>CONTENTS</a:t>
            </a:r>
            <a:endParaRPr lang="en-US" sz="1600" dirty="0"/>
          </a:p>
        </p:txBody>
      </p:sp>
      <p:sp>
        <p:nvSpPr>
          <p:cNvPr id="3" name="Text 1"/>
          <p:cNvSpPr/>
          <p:nvPr/>
        </p:nvSpPr>
        <p:spPr>
          <a:xfrm>
            <a:off x="12585700" y="2260600"/>
            <a:ext cx="3302000" cy="1193800"/>
          </a:xfrm>
          <a:prstGeom prst="rect">
            <a:avLst/>
          </a:prstGeom>
          <a:noFill/>
          <a:ln/>
        </p:spPr>
        <p:txBody>
          <a:bodyPr wrap="none" lIns="0" tIns="0" rIns="0" bIns="0" rtlCol="0" anchor="t"/>
          <a:lstStyle/>
          <a:p>
            <a:pPr>
              <a:lnSpc>
                <a:spcPct val="100000"/>
              </a:lnSpc>
            </a:pPr>
            <a:r>
              <a:rPr lang="en-US" sz="3500" dirty="0">
                <a:solidFill>
                  <a:srgbClr val="004AAD"/>
                </a:solidFill>
                <a:latin typeface="Quattrocento Sans" pitchFamily="34" charset="0"/>
                <a:ea typeface="Quattrocento Sans" pitchFamily="34" charset="-122"/>
                <a:cs typeface="Quattrocento Sans" pitchFamily="34" charset="-120"/>
              </a:rPr>
              <a:t>| Overview</a:t>
            </a:r>
            <a:endParaRPr lang="en-US" sz="1600" dirty="0"/>
          </a:p>
        </p:txBody>
      </p:sp>
      <p:sp>
        <p:nvSpPr>
          <p:cNvPr id="4" name="Text 2"/>
          <p:cNvSpPr/>
          <p:nvPr/>
        </p:nvSpPr>
        <p:spPr>
          <a:xfrm>
            <a:off x="1244600" y="5270500"/>
            <a:ext cx="2082800" cy="1841500"/>
          </a:xfrm>
          <a:prstGeom prst="rect">
            <a:avLst/>
          </a:prstGeom>
          <a:noFill/>
          <a:ln/>
        </p:spPr>
        <p:txBody>
          <a:bodyPr wrap="none" lIns="0" tIns="0" rIns="0" bIns="0" rtlCol="0" anchor="t"/>
          <a:lstStyle/>
          <a:p>
            <a:pPr algn="just">
              <a:lnSpc>
                <a:spcPct val="100000"/>
              </a:lnSpc>
            </a:pPr>
            <a:r>
              <a:rPr lang="en-US" sz="9700" dirty="0">
                <a:solidFill>
                  <a:srgbClr val="004AAD"/>
                </a:solidFill>
                <a:latin typeface="Quattrocento Sans" pitchFamily="34" charset="0"/>
                <a:ea typeface="Quattrocento Sans" pitchFamily="34" charset="-122"/>
                <a:cs typeface="Quattrocento Sans" pitchFamily="34" charset="-120"/>
              </a:rPr>
              <a:t>01</a:t>
            </a:r>
            <a:endParaRPr lang="en-US" sz="1600" dirty="0"/>
          </a:p>
        </p:txBody>
      </p:sp>
      <p:sp>
        <p:nvSpPr>
          <p:cNvPr id="5" name="Shape 3"/>
          <p:cNvSpPr/>
          <p:nvPr/>
        </p:nvSpPr>
        <p:spPr>
          <a:xfrm>
            <a:off x="1371600" y="7239000"/>
            <a:ext cx="4318000" cy="0"/>
          </a:xfrm>
          <a:prstGeom prst="straightConnector1">
            <a:avLst/>
          </a:prstGeom>
          <a:noFill/>
          <a:ln w="19050">
            <a:solidFill>
              <a:srgbClr val="004AAD"/>
            </a:solidFill>
            <a:prstDash val="solid"/>
            <a:headEnd type="none"/>
            <a:tailEnd type="none"/>
          </a:ln>
        </p:spPr>
      </p:sp>
      <p:sp>
        <p:nvSpPr>
          <p:cNvPr id="6" name="Text 4"/>
          <p:cNvSpPr/>
          <p:nvPr/>
        </p:nvSpPr>
        <p:spPr>
          <a:xfrm>
            <a:off x="1244600" y="7251700"/>
            <a:ext cx="4559300" cy="1866900"/>
          </a:xfrm>
          <a:prstGeom prst="rect">
            <a:avLst/>
          </a:prstGeom>
          <a:noFill/>
          <a:ln/>
        </p:spPr>
        <p:txBody>
          <a:bodyPr wrap="square" lIns="0" tIns="0" rIns="0" bIns="0" rtlCol="0" anchor="t"/>
          <a:lstStyle/>
          <a:p>
            <a:pPr algn="just">
              <a:lnSpc>
                <a:spcPct val="100000"/>
              </a:lnSpc>
            </a:pPr>
            <a:r>
              <a:rPr lang="en-US" sz="5100" dirty="0">
                <a:solidFill>
                  <a:srgbClr val="000000"/>
                </a:solidFill>
                <a:latin typeface="Quattrocento Sans" pitchFamily="34" charset="0"/>
                <a:ea typeface="Quattrocento Sans" pitchFamily="34" charset="-122"/>
                <a:cs typeface="Quattrocento Sans" pitchFamily="34" charset="-120"/>
              </a:rPr>
              <a:t>Project</a:t>
            </a:r>
            <a:endParaRPr lang="en-US" sz="1600" dirty="0"/>
          </a:p>
          <a:p>
            <a:pPr algn="just">
              <a:lnSpc>
                <a:spcPct val="100000"/>
              </a:lnSpc>
            </a:pPr>
            <a:r>
              <a:rPr lang="en-US" sz="5100" dirty="0">
                <a:solidFill>
                  <a:srgbClr val="000000"/>
                </a:solidFill>
                <a:latin typeface="Quattrocento Sans" pitchFamily="34" charset="0"/>
                <a:ea typeface="Quattrocento Sans" pitchFamily="34" charset="-122"/>
                <a:cs typeface="Quattrocento Sans" pitchFamily="34" charset="-120"/>
              </a:rPr>
              <a:t>Overview</a:t>
            </a:r>
            <a:endParaRPr lang="en-US" sz="1600" dirty="0"/>
          </a:p>
        </p:txBody>
      </p:sp>
      <p:sp>
        <p:nvSpPr>
          <p:cNvPr id="7" name="Text 5"/>
          <p:cNvSpPr/>
          <p:nvPr/>
        </p:nvSpPr>
        <p:spPr>
          <a:xfrm>
            <a:off x="1244600" y="9271000"/>
            <a:ext cx="4559300" cy="1066800"/>
          </a:xfrm>
          <a:prstGeom prst="rect">
            <a:avLst/>
          </a:prstGeom>
          <a:noFill/>
          <a:ln/>
        </p:spPr>
        <p:txBody>
          <a:bodyPr wrap="square" lIns="0" tIns="0" rIns="0" bIns="0" rtlCol="0" anchor="t"/>
          <a:lstStyle/>
          <a:p>
            <a:pPr>
              <a:lnSpc>
                <a:spcPct val="100000"/>
              </a:lnSpc>
            </a:pPr>
            <a:r>
              <a:rPr lang="en-US" sz="2900" dirty="0">
                <a:solidFill>
                  <a:srgbClr val="737373"/>
                </a:solidFill>
                <a:latin typeface="Liter" pitchFamily="34" charset="0"/>
                <a:ea typeface="Liter" pitchFamily="34" charset="-122"/>
                <a:cs typeface="Liter" pitchFamily="34" charset="-120"/>
              </a:rPr>
              <a:t>Game features and design</a:t>
            </a:r>
            <a:endParaRPr lang="en-US" sz="1600" dirty="0"/>
          </a:p>
        </p:txBody>
      </p:sp>
      <p:sp>
        <p:nvSpPr>
          <p:cNvPr id="8" name="Text 6"/>
          <p:cNvSpPr/>
          <p:nvPr/>
        </p:nvSpPr>
        <p:spPr>
          <a:xfrm>
            <a:off x="6756400" y="5270500"/>
            <a:ext cx="2082800" cy="1841500"/>
          </a:xfrm>
          <a:prstGeom prst="rect">
            <a:avLst/>
          </a:prstGeom>
          <a:noFill/>
          <a:ln/>
        </p:spPr>
        <p:txBody>
          <a:bodyPr wrap="none" lIns="0" tIns="0" rIns="0" bIns="0" rtlCol="0" anchor="t"/>
          <a:lstStyle/>
          <a:p>
            <a:pPr algn="just">
              <a:lnSpc>
                <a:spcPct val="100000"/>
              </a:lnSpc>
            </a:pPr>
            <a:r>
              <a:rPr lang="en-US" sz="9700" dirty="0">
                <a:solidFill>
                  <a:srgbClr val="004AAD"/>
                </a:solidFill>
                <a:latin typeface="Quattrocento Sans" pitchFamily="34" charset="0"/>
                <a:ea typeface="Quattrocento Sans" pitchFamily="34" charset="-122"/>
                <a:cs typeface="Quattrocento Sans" pitchFamily="34" charset="-120"/>
              </a:rPr>
              <a:t>02</a:t>
            </a:r>
            <a:endParaRPr lang="en-US" sz="1600" dirty="0"/>
          </a:p>
        </p:txBody>
      </p:sp>
      <p:sp>
        <p:nvSpPr>
          <p:cNvPr id="9" name="Shape 7"/>
          <p:cNvSpPr/>
          <p:nvPr/>
        </p:nvSpPr>
        <p:spPr>
          <a:xfrm>
            <a:off x="6883400" y="7239000"/>
            <a:ext cx="4318000" cy="0"/>
          </a:xfrm>
          <a:prstGeom prst="straightConnector1">
            <a:avLst/>
          </a:prstGeom>
          <a:noFill/>
          <a:ln w="19050">
            <a:solidFill>
              <a:srgbClr val="004AAD"/>
            </a:solidFill>
            <a:prstDash val="solid"/>
            <a:headEnd type="none"/>
            <a:tailEnd type="none"/>
          </a:ln>
        </p:spPr>
      </p:sp>
      <p:sp>
        <p:nvSpPr>
          <p:cNvPr id="10" name="Text 8"/>
          <p:cNvSpPr/>
          <p:nvPr/>
        </p:nvSpPr>
        <p:spPr>
          <a:xfrm>
            <a:off x="6756400" y="7251700"/>
            <a:ext cx="4559300" cy="1866900"/>
          </a:xfrm>
          <a:prstGeom prst="rect">
            <a:avLst/>
          </a:prstGeom>
          <a:noFill/>
          <a:ln/>
        </p:spPr>
        <p:txBody>
          <a:bodyPr wrap="square" lIns="0" tIns="0" rIns="0" bIns="0" rtlCol="0" anchor="t"/>
          <a:lstStyle/>
          <a:p>
            <a:pPr algn="just">
              <a:lnSpc>
                <a:spcPct val="100000"/>
              </a:lnSpc>
            </a:pPr>
            <a:r>
              <a:rPr lang="en-US" sz="5100" dirty="0">
                <a:solidFill>
                  <a:srgbClr val="000000"/>
                </a:solidFill>
                <a:latin typeface="Quattrocento Sans" pitchFamily="34" charset="0"/>
                <a:ea typeface="Quattrocento Sans" pitchFamily="34" charset="-122"/>
                <a:cs typeface="Quattrocento Sans" pitchFamily="34" charset="-120"/>
              </a:rPr>
              <a:t>System</a:t>
            </a:r>
            <a:endParaRPr lang="en-US" sz="1600" dirty="0"/>
          </a:p>
          <a:p>
            <a:pPr algn="just">
              <a:lnSpc>
                <a:spcPct val="100000"/>
              </a:lnSpc>
            </a:pPr>
            <a:r>
              <a:rPr lang="en-US" sz="5100" dirty="0">
                <a:solidFill>
                  <a:srgbClr val="000000"/>
                </a:solidFill>
                <a:latin typeface="Quattrocento Sans" pitchFamily="34" charset="0"/>
                <a:ea typeface="Quattrocento Sans" pitchFamily="34" charset="-122"/>
                <a:cs typeface="Quattrocento Sans" pitchFamily="34" charset="-120"/>
              </a:rPr>
              <a:t>Architecture</a:t>
            </a:r>
            <a:endParaRPr lang="en-US" sz="1600" dirty="0"/>
          </a:p>
        </p:txBody>
      </p:sp>
      <p:sp>
        <p:nvSpPr>
          <p:cNvPr id="11" name="Text 9"/>
          <p:cNvSpPr/>
          <p:nvPr/>
        </p:nvSpPr>
        <p:spPr>
          <a:xfrm>
            <a:off x="6756400" y="9271000"/>
            <a:ext cx="4559300" cy="1066800"/>
          </a:xfrm>
          <a:prstGeom prst="rect">
            <a:avLst/>
          </a:prstGeom>
          <a:noFill/>
          <a:ln/>
        </p:spPr>
        <p:txBody>
          <a:bodyPr wrap="square" lIns="0" tIns="0" rIns="0" bIns="0" rtlCol="0" anchor="t"/>
          <a:lstStyle/>
          <a:p>
            <a:pPr>
              <a:lnSpc>
                <a:spcPct val="100000"/>
              </a:lnSpc>
            </a:pPr>
            <a:r>
              <a:rPr lang="en-US" sz="2900" dirty="0">
                <a:solidFill>
                  <a:srgbClr val="737373"/>
                </a:solidFill>
                <a:latin typeface="Liter" pitchFamily="34" charset="0"/>
                <a:ea typeface="Liter" pitchFamily="34" charset="-122"/>
                <a:cs typeface="Liter" pitchFamily="34" charset="-120"/>
              </a:rPr>
              <a:t>Client-server design patterns</a:t>
            </a:r>
            <a:endParaRPr lang="en-US" sz="1600" dirty="0"/>
          </a:p>
        </p:txBody>
      </p:sp>
      <p:sp>
        <p:nvSpPr>
          <p:cNvPr id="12" name="Text 10"/>
          <p:cNvSpPr/>
          <p:nvPr/>
        </p:nvSpPr>
        <p:spPr>
          <a:xfrm>
            <a:off x="12280900" y="5270500"/>
            <a:ext cx="2082800" cy="1841500"/>
          </a:xfrm>
          <a:prstGeom prst="rect">
            <a:avLst/>
          </a:prstGeom>
          <a:noFill/>
          <a:ln/>
        </p:spPr>
        <p:txBody>
          <a:bodyPr wrap="none" lIns="0" tIns="0" rIns="0" bIns="0" rtlCol="0" anchor="t"/>
          <a:lstStyle/>
          <a:p>
            <a:pPr algn="just">
              <a:lnSpc>
                <a:spcPct val="100000"/>
              </a:lnSpc>
            </a:pPr>
            <a:r>
              <a:rPr lang="en-US" sz="9700" dirty="0">
                <a:solidFill>
                  <a:srgbClr val="004AAD"/>
                </a:solidFill>
                <a:latin typeface="Quattrocento Sans" pitchFamily="34" charset="0"/>
                <a:ea typeface="Quattrocento Sans" pitchFamily="34" charset="-122"/>
                <a:cs typeface="Quattrocento Sans" pitchFamily="34" charset="-120"/>
              </a:rPr>
              <a:t>03</a:t>
            </a:r>
            <a:endParaRPr lang="en-US" sz="1600" dirty="0"/>
          </a:p>
        </p:txBody>
      </p:sp>
      <p:sp>
        <p:nvSpPr>
          <p:cNvPr id="13" name="Shape 11"/>
          <p:cNvSpPr/>
          <p:nvPr/>
        </p:nvSpPr>
        <p:spPr>
          <a:xfrm>
            <a:off x="12395200" y="7239000"/>
            <a:ext cx="4318000" cy="0"/>
          </a:xfrm>
          <a:prstGeom prst="straightConnector1">
            <a:avLst/>
          </a:prstGeom>
          <a:noFill/>
          <a:ln w="19050">
            <a:solidFill>
              <a:srgbClr val="004AAD"/>
            </a:solidFill>
            <a:prstDash val="solid"/>
            <a:headEnd type="none"/>
            <a:tailEnd type="none"/>
          </a:ln>
        </p:spPr>
      </p:sp>
      <p:sp>
        <p:nvSpPr>
          <p:cNvPr id="14" name="Text 12"/>
          <p:cNvSpPr/>
          <p:nvPr/>
        </p:nvSpPr>
        <p:spPr>
          <a:xfrm>
            <a:off x="12280900" y="7429500"/>
            <a:ext cx="4559300" cy="2794000"/>
          </a:xfrm>
          <a:prstGeom prst="rect">
            <a:avLst/>
          </a:prstGeom>
          <a:noFill/>
          <a:ln/>
        </p:spPr>
        <p:txBody>
          <a:bodyPr wrap="square" lIns="0" tIns="0" rIns="0" bIns="0" rtlCol="0" anchor="t"/>
          <a:lstStyle/>
          <a:p>
            <a:pPr algn="just">
              <a:lnSpc>
                <a:spcPct val="100000"/>
              </a:lnSpc>
            </a:pPr>
            <a:r>
              <a:rPr lang="en-US" sz="5100" dirty="0">
                <a:solidFill>
                  <a:srgbClr val="000000"/>
                </a:solidFill>
                <a:latin typeface="Quattrocento Sans" pitchFamily="34" charset="0"/>
                <a:ea typeface="Quattrocento Sans" pitchFamily="34" charset="-122"/>
                <a:cs typeface="Quattrocento Sans" pitchFamily="34" charset="-120"/>
              </a:rPr>
              <a:t>Core</a:t>
            </a:r>
            <a:endParaRPr lang="en-US" sz="1600" dirty="0"/>
          </a:p>
          <a:p>
            <a:pPr algn="just">
              <a:lnSpc>
                <a:spcPct val="100000"/>
              </a:lnSpc>
            </a:pPr>
            <a:r>
              <a:rPr lang="en-US" sz="5100" dirty="0">
                <a:solidFill>
                  <a:srgbClr val="000000"/>
                </a:solidFill>
                <a:latin typeface="Quattrocento Sans" pitchFamily="34" charset="0"/>
                <a:ea typeface="Quattrocento Sans" pitchFamily="34" charset="-122"/>
                <a:cs typeface="Quattrocento Sans" pitchFamily="34" charset="-120"/>
              </a:rPr>
              <a:t>Implementation</a:t>
            </a:r>
            <a:endParaRPr lang="en-US" sz="1600" dirty="0"/>
          </a:p>
        </p:txBody>
      </p:sp>
      <p:sp>
        <p:nvSpPr>
          <p:cNvPr id="15" name="Text 13"/>
          <p:cNvSpPr/>
          <p:nvPr/>
        </p:nvSpPr>
        <p:spPr>
          <a:xfrm>
            <a:off x="12280900" y="10414000"/>
            <a:ext cx="4559300" cy="1066800"/>
          </a:xfrm>
          <a:prstGeom prst="rect">
            <a:avLst/>
          </a:prstGeom>
          <a:noFill/>
          <a:ln/>
        </p:spPr>
        <p:txBody>
          <a:bodyPr wrap="square" lIns="0" tIns="0" rIns="0" bIns="0" rtlCol="0" anchor="t"/>
          <a:lstStyle/>
          <a:p>
            <a:pPr>
              <a:lnSpc>
                <a:spcPct val="100000"/>
              </a:lnSpc>
            </a:pPr>
            <a:r>
              <a:rPr lang="en-US" sz="2900" dirty="0">
                <a:solidFill>
                  <a:srgbClr val="737373"/>
                </a:solidFill>
                <a:latin typeface="Liter" pitchFamily="34" charset="0"/>
                <a:ea typeface="Liter" pitchFamily="34" charset="-122"/>
                <a:cs typeface="Liter" pitchFamily="34" charset="-120"/>
              </a:rPr>
              <a:t>Technology stack and components</a:t>
            </a:r>
            <a:endParaRPr lang="en-US" sz="1600" dirty="0"/>
          </a:p>
        </p:txBody>
      </p:sp>
      <p:sp>
        <p:nvSpPr>
          <p:cNvPr id="16" name="Text 14"/>
          <p:cNvSpPr/>
          <p:nvPr/>
        </p:nvSpPr>
        <p:spPr>
          <a:xfrm>
            <a:off x="17792700" y="5270500"/>
            <a:ext cx="2082800" cy="1841500"/>
          </a:xfrm>
          <a:prstGeom prst="rect">
            <a:avLst/>
          </a:prstGeom>
          <a:noFill/>
          <a:ln/>
        </p:spPr>
        <p:txBody>
          <a:bodyPr wrap="none" lIns="0" tIns="0" rIns="0" bIns="0" rtlCol="0" anchor="t"/>
          <a:lstStyle/>
          <a:p>
            <a:pPr algn="just">
              <a:lnSpc>
                <a:spcPct val="100000"/>
              </a:lnSpc>
            </a:pPr>
            <a:r>
              <a:rPr lang="en-US" sz="9700" dirty="0">
                <a:solidFill>
                  <a:srgbClr val="004AAD"/>
                </a:solidFill>
                <a:latin typeface="Quattrocento Sans" pitchFamily="34" charset="0"/>
                <a:ea typeface="Quattrocento Sans" pitchFamily="34" charset="-122"/>
                <a:cs typeface="Quattrocento Sans" pitchFamily="34" charset="-120"/>
              </a:rPr>
              <a:t>04</a:t>
            </a:r>
            <a:endParaRPr lang="en-US" sz="1600" dirty="0"/>
          </a:p>
        </p:txBody>
      </p:sp>
      <p:sp>
        <p:nvSpPr>
          <p:cNvPr id="17" name="Shape 15"/>
          <p:cNvSpPr/>
          <p:nvPr/>
        </p:nvSpPr>
        <p:spPr>
          <a:xfrm>
            <a:off x="17907000" y="7239000"/>
            <a:ext cx="4318000" cy="0"/>
          </a:xfrm>
          <a:prstGeom prst="straightConnector1">
            <a:avLst/>
          </a:prstGeom>
          <a:noFill/>
          <a:ln w="19050">
            <a:solidFill>
              <a:srgbClr val="004AAD"/>
            </a:solidFill>
            <a:prstDash val="solid"/>
            <a:headEnd type="none"/>
            <a:tailEnd type="none"/>
          </a:ln>
        </p:spPr>
      </p:sp>
      <p:sp>
        <p:nvSpPr>
          <p:cNvPr id="18" name="Text 16"/>
          <p:cNvSpPr/>
          <p:nvPr/>
        </p:nvSpPr>
        <p:spPr>
          <a:xfrm>
            <a:off x="17792700" y="7251700"/>
            <a:ext cx="4559300" cy="1866900"/>
          </a:xfrm>
          <a:prstGeom prst="rect">
            <a:avLst/>
          </a:prstGeom>
          <a:noFill/>
          <a:ln/>
        </p:spPr>
        <p:txBody>
          <a:bodyPr wrap="square" lIns="0" tIns="0" rIns="0" bIns="0" rtlCol="0" anchor="t"/>
          <a:lstStyle/>
          <a:p>
            <a:pPr algn="just">
              <a:lnSpc>
                <a:spcPct val="100000"/>
              </a:lnSpc>
            </a:pPr>
            <a:r>
              <a:rPr lang="en-US" sz="5100" dirty="0">
                <a:solidFill>
                  <a:srgbClr val="000000"/>
                </a:solidFill>
                <a:latin typeface="Quattrocento Sans" pitchFamily="34" charset="0"/>
                <a:ea typeface="Quattrocento Sans" pitchFamily="34" charset="-122"/>
                <a:cs typeface="Quattrocento Sans" pitchFamily="34" charset="-120"/>
              </a:rPr>
              <a:t>Deployment</a:t>
            </a:r>
            <a:endParaRPr lang="en-US" sz="1600" dirty="0"/>
          </a:p>
          <a:p>
            <a:pPr algn="just">
              <a:lnSpc>
                <a:spcPct val="100000"/>
              </a:lnSpc>
            </a:pPr>
            <a:r>
              <a:rPr lang="en-US" sz="5100" dirty="0">
                <a:solidFill>
                  <a:srgbClr val="000000"/>
                </a:solidFill>
                <a:latin typeface="Quattrocento Sans" pitchFamily="34" charset="0"/>
                <a:ea typeface="Quattrocento Sans" pitchFamily="34" charset="-122"/>
                <a:cs typeface="Quattrocento Sans" pitchFamily="34" charset="-120"/>
              </a:rPr>
              <a:t>&amp; Future</a:t>
            </a:r>
            <a:endParaRPr lang="en-US" sz="1600" dirty="0"/>
          </a:p>
        </p:txBody>
      </p:sp>
      <p:sp>
        <p:nvSpPr>
          <p:cNvPr id="19" name="Text 17"/>
          <p:cNvSpPr/>
          <p:nvPr/>
        </p:nvSpPr>
        <p:spPr>
          <a:xfrm>
            <a:off x="17792700" y="9271000"/>
            <a:ext cx="4559300" cy="1066800"/>
          </a:xfrm>
          <a:prstGeom prst="rect">
            <a:avLst/>
          </a:prstGeom>
          <a:noFill/>
          <a:ln/>
        </p:spPr>
        <p:txBody>
          <a:bodyPr wrap="square" lIns="0" tIns="0" rIns="0" bIns="0" rtlCol="0" anchor="t"/>
          <a:lstStyle/>
          <a:p>
            <a:pPr>
              <a:lnSpc>
                <a:spcPct val="100000"/>
              </a:lnSpc>
            </a:pPr>
            <a:r>
              <a:rPr lang="en-US" sz="2900" dirty="0">
                <a:solidFill>
                  <a:srgbClr val="737373"/>
                </a:solidFill>
                <a:latin typeface="Liter" pitchFamily="34" charset="0"/>
                <a:ea typeface="Liter" pitchFamily="34" charset="-122"/>
                <a:cs typeface="Liter" pitchFamily="34" charset="-120"/>
              </a:rPr>
              <a:t>Setup guide and enhancements</a:t>
            </a:r>
            <a:endParaRPr lang="en-US" sz="1600" dirty="0"/>
          </a:p>
        </p:txBody>
      </p:sp>
    </p:spTree>
  </p:cSld>
  <p:clrMapOvr>
    <a:masterClrMapping/>
  </p:clrMapOvr>
  <p:transition>
    <p:fade/>
    <p:spd val="med"/>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gradFill rotWithShape="1" flip="none">
          <a:gsLst>
            <a:gs pos="0">
              <a:srgbClr val="FFFFFF"/>
            </a:gs>
            <a:gs pos="50000">
              <a:srgbClr val="EAF4FF"/>
            </a:gs>
            <a:gs pos="100000">
              <a:srgbClr val="C7E2FF"/>
            </a:gs>
          </a:gsLst>
          <a:path path="circle"/>
        </a:gradFill>
      </p:bgPr>
    </p:bg>
    <p:spTree>
      <p:nvGrpSpPr>
        <p:cNvPr id="1" name=""/>
        <p:cNvGrpSpPr/>
        <p:nvPr/>
      </p:nvGrpSpPr>
      <p:grpSpPr>
        <a:xfrm>
          <a:off x="0" y="0"/>
          <a:ext cx="0" cy="0"/>
          <a:chOff x="0" y="0"/>
          <a:chExt cx="0" cy="0"/>
        </a:xfrm>
      </p:grpSpPr>
      <p:sp>
        <p:nvSpPr>
          <p:cNvPr id="2" name="Text 0"/>
          <p:cNvSpPr/>
          <p:nvPr/>
        </p:nvSpPr>
        <p:spPr>
          <a:xfrm>
            <a:off x="9232900" y="2819400"/>
            <a:ext cx="5918200" cy="4432300"/>
          </a:xfrm>
          <a:prstGeom prst="rect">
            <a:avLst/>
          </a:prstGeom>
          <a:noFill/>
          <a:ln/>
        </p:spPr>
        <p:txBody>
          <a:bodyPr wrap="none" lIns="0" tIns="0" rIns="0" bIns="0" rtlCol="0" anchor="t"/>
          <a:lstStyle/>
          <a:p>
            <a:pPr algn="ctr">
              <a:lnSpc>
                <a:spcPct val="140000"/>
              </a:lnSpc>
            </a:pPr>
            <a:r>
              <a:rPr lang="en-US" sz="24500" dirty="0">
                <a:solidFill>
                  <a:srgbClr val="004AAD"/>
                </a:solidFill>
                <a:latin typeface="QuattrocentoSans" pitchFamily="34" charset="0"/>
                <a:ea typeface="QuattrocentoSans" pitchFamily="34" charset="-122"/>
                <a:cs typeface="QuattrocentoSans" pitchFamily="34" charset="-120"/>
              </a:rPr>
              <a:t>01</a:t>
            </a:r>
            <a:endParaRPr lang="en-US" sz="24500" dirty="0"/>
          </a:p>
        </p:txBody>
      </p:sp>
      <p:sp>
        <p:nvSpPr>
          <p:cNvPr id="3" name="Shape 1"/>
          <p:cNvSpPr/>
          <p:nvPr/>
        </p:nvSpPr>
        <p:spPr>
          <a:xfrm>
            <a:off x="8382000" y="8458200"/>
            <a:ext cx="7607300" cy="0"/>
          </a:xfrm>
          <a:prstGeom prst="straightConnector1">
            <a:avLst/>
          </a:prstGeom>
          <a:noFill/>
          <a:ln w="28575">
            <a:solidFill>
              <a:srgbClr val="004AAD"/>
            </a:solidFill>
            <a:prstDash val="solid"/>
            <a:headEnd type="none"/>
            <a:tailEnd type="none"/>
          </a:ln>
        </p:spPr>
      </p:sp>
      <p:sp>
        <p:nvSpPr>
          <p:cNvPr id="4" name="Text 2"/>
          <p:cNvSpPr/>
          <p:nvPr/>
        </p:nvSpPr>
        <p:spPr>
          <a:xfrm>
            <a:off x="6565900" y="6616700"/>
            <a:ext cx="11239500" cy="1587500"/>
          </a:xfrm>
          <a:prstGeom prst="rect">
            <a:avLst/>
          </a:prstGeom>
          <a:noFill/>
          <a:ln/>
        </p:spPr>
        <p:txBody>
          <a:bodyPr wrap="none" lIns="0" tIns="0" rIns="0" bIns="0" rtlCol="0" anchor="t"/>
          <a:lstStyle/>
          <a:p>
            <a:pPr algn="ctr">
              <a:lnSpc>
                <a:spcPct val="140000"/>
              </a:lnSpc>
            </a:pPr>
            <a:r>
              <a:rPr lang="en-US" sz="8500" dirty="0">
                <a:solidFill>
                  <a:srgbClr val="000000"/>
                </a:solidFill>
                <a:latin typeface="QuattrocentoSans" pitchFamily="34" charset="0"/>
                <a:ea typeface="QuattrocentoSans" pitchFamily="34" charset="-122"/>
                <a:cs typeface="QuattrocentoSans" pitchFamily="34" charset="-120"/>
              </a:rPr>
              <a:t>Project Overview</a:t>
            </a:r>
            <a:endParaRPr lang="en-US" sz="8500" dirty="0"/>
          </a:p>
        </p:txBody>
      </p:sp>
      <p:sp>
        <p:nvSpPr>
          <p:cNvPr id="5" name="Text 3"/>
          <p:cNvSpPr/>
          <p:nvPr/>
        </p:nvSpPr>
        <p:spPr>
          <a:xfrm>
            <a:off x="6997700" y="8763000"/>
            <a:ext cx="10401300" cy="1397000"/>
          </a:xfrm>
          <a:prstGeom prst="rect">
            <a:avLst/>
          </a:prstGeom>
          <a:noFill/>
          <a:ln/>
        </p:spPr>
        <p:txBody>
          <a:bodyPr wrap="square" lIns="0" tIns="0" rIns="0" bIns="0" rtlCol="0" anchor="t"/>
          <a:lstStyle/>
          <a:p>
            <a:pPr algn="ctr">
              <a:lnSpc>
                <a:spcPct val="100000"/>
              </a:lnSpc>
            </a:pPr>
            <a:r>
              <a:rPr lang="en-US" sz="4000" dirty="0">
                <a:solidFill>
                  <a:srgbClr val="737373"/>
                </a:solidFill>
                <a:latin typeface="Quattrocento Sans" pitchFamily="34" charset="0"/>
                <a:ea typeface="Quattrocento Sans" pitchFamily="34" charset="-122"/>
                <a:cs typeface="Quattrocento Sans" pitchFamily="34" charset="-120"/>
              </a:rPr>
              <a:t>Understanding the game's core features</a:t>
            </a:r>
            <a:endParaRPr lang="en-US" sz="1600" dirty="0"/>
          </a:p>
        </p:txBody>
      </p:sp>
      <p:sp>
        <p:nvSpPr>
          <p:cNvPr id="6" name="Text 4"/>
          <p:cNvSpPr/>
          <p:nvPr/>
        </p:nvSpPr>
        <p:spPr>
          <a:xfrm>
            <a:off x="1016000" y="800100"/>
            <a:ext cx="11036300" cy="635000"/>
          </a:xfrm>
          <a:prstGeom prst="rect">
            <a:avLst/>
          </a:prstGeom>
          <a:noFill/>
          <a:ln/>
        </p:spPr>
        <p:txBody>
          <a:bodyPr wrap="none" lIns="0" tIns="0" rIns="0" bIns="0" rtlCol="0" anchor="t"/>
          <a:lstStyle/>
          <a:p>
            <a:pPr algn="just">
              <a:lnSpc>
                <a:spcPct val="140000"/>
              </a:lnSpc>
            </a:pPr>
            <a:r>
              <a:rPr lang="en-US" sz="2900" spc="400" kern="0" dirty="0">
                <a:solidFill>
                  <a:srgbClr val="000000"/>
                </a:solidFill>
                <a:latin typeface="Liter" pitchFamily="34" charset="0"/>
                <a:ea typeface="Liter" pitchFamily="34" charset="-122"/>
                <a:cs typeface="Liter" pitchFamily="34" charset="-120"/>
              </a:rPr>
              <a:t>FILM GUESSING GAME</a:t>
            </a:r>
            <a:endParaRPr lang="en-US" sz="2900" dirty="0"/>
          </a:p>
        </p:txBody>
      </p:sp>
      <p:sp>
        <p:nvSpPr>
          <p:cNvPr id="7" name="Text 5"/>
          <p:cNvSpPr/>
          <p:nvPr/>
        </p:nvSpPr>
        <p:spPr>
          <a:xfrm>
            <a:off x="18161000" y="800100"/>
            <a:ext cx="5207000" cy="635000"/>
          </a:xfrm>
          <a:prstGeom prst="rect">
            <a:avLst/>
          </a:prstGeom>
          <a:noFill/>
          <a:ln/>
        </p:spPr>
        <p:txBody>
          <a:bodyPr wrap="none" lIns="0" tIns="0" rIns="0" bIns="0" rtlCol="0" anchor="t"/>
          <a:lstStyle/>
          <a:p>
            <a:pPr algn="r">
              <a:lnSpc>
                <a:spcPct val="140000"/>
              </a:lnSpc>
            </a:pPr>
            <a:r>
              <a:rPr lang="en-US" sz="2900" spc="400" kern="0" dirty="0">
                <a:solidFill>
                  <a:srgbClr val="000000"/>
                </a:solidFill>
                <a:latin typeface="Liter" pitchFamily="34" charset="0"/>
                <a:ea typeface="Liter" pitchFamily="34" charset="-122"/>
                <a:cs typeface="Liter" pitchFamily="34" charset="-120"/>
              </a:rPr>
              <a:t>PART 01</a:t>
            </a:r>
            <a:endParaRPr lang="en-US" sz="2900" dirty="0"/>
          </a:p>
        </p:txBody>
      </p:sp>
    </p:spTree>
  </p:cSld>
  <p:clrMapOvr>
    <a:masterClrMapping/>
  </p:clrMapOvr>
  <p:transition>
    <p:fade/>
    <p:spd val="med"/>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gradFill rotWithShape="1" flip="none">
          <a:gsLst>
            <a:gs pos="0">
              <a:srgbClr val="C7E2FF"/>
            </a:gs>
            <a:gs pos="50000">
              <a:srgbClr val="EAF4FF"/>
            </a:gs>
            <a:gs pos="100000">
              <a:srgbClr val="FFFFFF"/>
            </a:gs>
          </a:gsLst>
          <a:lin ang="2700000" scaled="1"/>
        </a:gradFill>
      </p:bgPr>
    </p:bg>
    <p:spTree>
      <p:nvGrpSpPr>
        <p:cNvPr id="1" name=""/>
        <p:cNvGrpSpPr/>
        <p:nvPr/>
      </p:nvGrpSpPr>
      <p:grpSpPr>
        <a:xfrm>
          <a:off x="0" y="0"/>
          <a:ext cx="0" cy="0"/>
          <a:chOff x="0" y="0"/>
          <a:chExt cx="0" cy="0"/>
        </a:xfrm>
      </p:grpSpPr>
      <p:sp>
        <p:nvSpPr>
          <p:cNvPr id="2" name="Text 0"/>
          <p:cNvSpPr/>
          <p:nvPr/>
        </p:nvSpPr>
        <p:spPr>
          <a:xfrm>
            <a:off x="1244600" y="1282700"/>
            <a:ext cx="10363200" cy="2247900"/>
          </a:xfrm>
          <a:prstGeom prst="rect">
            <a:avLst/>
          </a:prstGeom>
          <a:noFill/>
          <a:ln/>
        </p:spPr>
        <p:txBody>
          <a:bodyPr wrap="square" lIns="0" tIns="0" rIns="0" bIns="0" rtlCol="0" anchor="t"/>
          <a:lstStyle/>
          <a:p>
            <a:pPr>
              <a:lnSpc>
                <a:spcPct val="124000"/>
              </a:lnSpc>
            </a:pPr>
            <a:r>
              <a:rPr lang="en-US" sz="6800" dirty="0">
                <a:solidFill>
                  <a:srgbClr val="000000"/>
                </a:solidFill>
                <a:latin typeface="QuattrocentoSans" pitchFamily="34" charset="0"/>
                <a:ea typeface="QuattrocentoSans" pitchFamily="34" charset="-122"/>
                <a:cs typeface="QuattrocentoSans" pitchFamily="34" charset="-120"/>
              </a:rPr>
              <a:t>KEY FEATURES &amp; OVERVIEW</a:t>
            </a:r>
            <a:endParaRPr lang="en-US" sz="6800" dirty="0"/>
          </a:p>
        </p:txBody>
      </p:sp>
      <p:sp>
        <p:nvSpPr>
          <p:cNvPr id="3" name="Shape 1"/>
          <p:cNvSpPr/>
          <p:nvPr/>
        </p:nvSpPr>
        <p:spPr>
          <a:xfrm>
            <a:off x="8521700" y="1574800"/>
            <a:ext cx="12522200" cy="0"/>
          </a:xfrm>
          <a:prstGeom prst="straightConnector1">
            <a:avLst/>
          </a:prstGeom>
          <a:noFill/>
          <a:ln w="9525">
            <a:solidFill>
              <a:srgbClr val="000000"/>
            </a:solidFill>
            <a:prstDash val="solid"/>
            <a:headEnd type="none"/>
            <a:tailEnd type="none"/>
          </a:ln>
        </p:spPr>
      </p:sp>
      <p:sp>
        <p:nvSpPr>
          <p:cNvPr id="4" name="Text 2"/>
          <p:cNvSpPr/>
          <p:nvPr/>
        </p:nvSpPr>
        <p:spPr>
          <a:xfrm>
            <a:off x="6477000" y="3657600"/>
            <a:ext cx="5842000" cy="825500"/>
          </a:xfrm>
          <a:prstGeom prst="rect">
            <a:avLst/>
          </a:prstGeom>
          <a:noFill/>
          <a:ln/>
        </p:spPr>
        <p:txBody>
          <a:bodyPr wrap="none" lIns="0" tIns="0" rIns="0" bIns="0" rtlCol="0" anchor="t"/>
          <a:lstStyle/>
          <a:p>
            <a:pPr>
              <a:lnSpc>
                <a:spcPct val="140000"/>
              </a:lnSpc>
            </a:pPr>
            <a:r>
              <a:rPr lang="en-US" sz="4100" dirty="0">
                <a:solidFill>
                  <a:srgbClr val="000000"/>
                </a:solidFill>
                <a:latin typeface="QuattrocentoSans" pitchFamily="34" charset="0"/>
                <a:ea typeface="QuattrocentoSans" pitchFamily="34" charset="-122"/>
                <a:cs typeface="QuattrocentoSans" pitchFamily="34" charset="-120"/>
              </a:rPr>
              <a:t>Project Overview</a:t>
            </a:r>
            <a:endParaRPr lang="en-US" sz="4100" dirty="0"/>
          </a:p>
        </p:txBody>
      </p:sp>
      <p:sp>
        <p:nvSpPr>
          <p:cNvPr id="5" name="Text 3"/>
          <p:cNvSpPr/>
          <p:nvPr/>
        </p:nvSpPr>
        <p:spPr>
          <a:xfrm>
            <a:off x="18161000" y="1244600"/>
            <a:ext cx="5207000" cy="635000"/>
          </a:xfrm>
          <a:prstGeom prst="rect">
            <a:avLst/>
          </a:prstGeom>
          <a:noFill/>
          <a:ln/>
        </p:spPr>
        <p:txBody>
          <a:bodyPr wrap="none" lIns="0" tIns="0" rIns="0" bIns="0" rtlCol="0" anchor="t"/>
          <a:lstStyle/>
          <a:p>
            <a:pPr algn="r">
              <a:lnSpc>
                <a:spcPct val="140000"/>
              </a:lnSpc>
            </a:pPr>
            <a:r>
              <a:rPr lang="en-US" sz="2900" spc="400" kern="0" dirty="0">
                <a:solidFill>
                  <a:srgbClr val="000000"/>
                </a:solidFill>
                <a:latin typeface="Liter" pitchFamily="34" charset="0"/>
                <a:ea typeface="Liter" pitchFamily="34" charset="-122"/>
                <a:cs typeface="Liter" pitchFamily="34" charset="-120"/>
              </a:rPr>
              <a:t>PART 01</a:t>
            </a:r>
            <a:endParaRPr lang="en-US" sz="2900" dirty="0"/>
          </a:p>
        </p:txBody>
      </p:sp>
      <p:sp>
        <p:nvSpPr>
          <p:cNvPr id="6" name="Shape 4"/>
          <p:cNvSpPr/>
          <p:nvPr/>
        </p:nvSpPr>
        <p:spPr>
          <a:xfrm rot="5400000">
            <a:off x="1346200" y="3835400"/>
            <a:ext cx="368300" cy="330200"/>
          </a:xfrm>
          <a:prstGeom prst="triangle">
            <a:avLst>
              <a:gd name="adj" fmla="val 50000"/>
            </a:avLst>
          </a:prstGeom>
          <a:solidFill>
            <a:srgbClr val="004AAD"/>
          </a:solidFill>
          <a:ln/>
        </p:spPr>
      </p:sp>
      <p:sp>
        <p:nvSpPr>
          <p:cNvPr id="7" name="Shape 5"/>
          <p:cNvSpPr/>
          <p:nvPr/>
        </p:nvSpPr>
        <p:spPr>
          <a:xfrm rot="5400000">
            <a:off x="1854200" y="3835400"/>
            <a:ext cx="368300" cy="330200"/>
          </a:xfrm>
          <a:prstGeom prst="triangle">
            <a:avLst>
              <a:gd name="adj" fmla="val 50000"/>
            </a:avLst>
          </a:prstGeom>
          <a:solidFill>
            <a:srgbClr val="004AAD"/>
          </a:solidFill>
          <a:ln/>
        </p:spPr>
      </p:sp>
      <p:sp>
        <p:nvSpPr>
          <p:cNvPr id="8" name="Shape 6"/>
          <p:cNvSpPr/>
          <p:nvPr/>
        </p:nvSpPr>
        <p:spPr>
          <a:xfrm rot="5400000">
            <a:off x="2349500" y="3835400"/>
            <a:ext cx="368300" cy="330200"/>
          </a:xfrm>
          <a:prstGeom prst="triangle">
            <a:avLst>
              <a:gd name="adj" fmla="val 50000"/>
            </a:avLst>
          </a:prstGeom>
          <a:solidFill>
            <a:srgbClr val="004AAD"/>
          </a:solidFill>
          <a:ln/>
        </p:spPr>
      </p:sp>
      <p:sp>
        <p:nvSpPr>
          <p:cNvPr id="9" name="Shape 7"/>
          <p:cNvSpPr/>
          <p:nvPr/>
        </p:nvSpPr>
        <p:spPr>
          <a:xfrm rot="5400000">
            <a:off x="2857500" y="3835400"/>
            <a:ext cx="368300" cy="330200"/>
          </a:xfrm>
          <a:prstGeom prst="triangle">
            <a:avLst>
              <a:gd name="adj" fmla="val 50000"/>
            </a:avLst>
          </a:prstGeom>
          <a:solidFill>
            <a:srgbClr val="004AAD"/>
          </a:solidFill>
          <a:ln/>
        </p:spPr>
      </p:sp>
      <p:sp>
        <p:nvSpPr>
          <p:cNvPr id="10" name="Shape 8"/>
          <p:cNvSpPr/>
          <p:nvPr/>
        </p:nvSpPr>
        <p:spPr>
          <a:xfrm rot="5400000">
            <a:off x="3352800" y="3835400"/>
            <a:ext cx="368300" cy="330200"/>
          </a:xfrm>
          <a:prstGeom prst="triangle">
            <a:avLst>
              <a:gd name="adj" fmla="val 50000"/>
            </a:avLst>
          </a:prstGeom>
          <a:solidFill>
            <a:srgbClr val="004AAD"/>
          </a:solidFill>
          <a:ln/>
        </p:spPr>
      </p:sp>
      <p:sp>
        <p:nvSpPr>
          <p:cNvPr id="11" name="Shape 9"/>
          <p:cNvSpPr/>
          <p:nvPr/>
        </p:nvSpPr>
        <p:spPr>
          <a:xfrm rot="5400000">
            <a:off x="3860800" y="3835400"/>
            <a:ext cx="368300" cy="330200"/>
          </a:xfrm>
          <a:prstGeom prst="triangle">
            <a:avLst>
              <a:gd name="adj" fmla="val 50000"/>
            </a:avLst>
          </a:prstGeom>
          <a:solidFill>
            <a:srgbClr val="004AAD"/>
          </a:solidFill>
          <a:ln/>
        </p:spPr>
      </p:sp>
      <p:sp>
        <p:nvSpPr>
          <p:cNvPr id="12" name="Shape 10"/>
          <p:cNvSpPr/>
          <p:nvPr/>
        </p:nvSpPr>
        <p:spPr>
          <a:xfrm>
            <a:off x="1371600" y="4826000"/>
            <a:ext cx="6680200" cy="7137400"/>
          </a:xfrm>
          <a:prstGeom prst="rect">
            <a:avLst/>
          </a:prstGeom>
          <a:solidFill>
            <a:srgbClr val="7EC8E3"/>
          </a:solidFill>
          <a:ln/>
        </p:spPr>
      </p:sp>
      <p:sp>
        <p:nvSpPr>
          <p:cNvPr id="13" name="Text 11"/>
          <p:cNvSpPr/>
          <p:nvPr/>
        </p:nvSpPr>
        <p:spPr>
          <a:xfrm>
            <a:off x="2514600" y="5651500"/>
            <a:ext cx="4381500" cy="711200"/>
          </a:xfrm>
          <a:prstGeom prst="rect">
            <a:avLst/>
          </a:prstGeom>
          <a:noFill/>
          <a:ln/>
        </p:spPr>
        <p:txBody>
          <a:bodyPr wrap="none" lIns="0" tIns="0" rIns="0" bIns="0" rtlCol="0" anchor="t"/>
          <a:lstStyle/>
          <a:p>
            <a:pPr algn="ctr">
              <a:lnSpc>
                <a:spcPct val="140000"/>
              </a:lnSpc>
            </a:pPr>
            <a:r>
              <a:rPr lang="en-US" sz="3500" dirty="0">
                <a:solidFill>
                  <a:srgbClr val="000000"/>
                </a:solidFill>
                <a:latin typeface="QuattrocentoSans" pitchFamily="34" charset="0"/>
                <a:ea typeface="QuattrocentoSans" pitchFamily="34" charset="-122"/>
                <a:cs typeface="QuattrocentoSans" pitchFamily="34" charset="-120"/>
              </a:rPr>
              <a:t>Interactive UI</a:t>
            </a:r>
            <a:endParaRPr lang="en-US" sz="3500" dirty="0"/>
          </a:p>
        </p:txBody>
      </p:sp>
      <p:sp>
        <p:nvSpPr>
          <p:cNvPr id="14" name="Shape 12"/>
          <p:cNvSpPr/>
          <p:nvPr/>
        </p:nvSpPr>
        <p:spPr>
          <a:xfrm>
            <a:off x="4191000" y="6477000"/>
            <a:ext cx="1041400" cy="0"/>
          </a:xfrm>
          <a:prstGeom prst="straightConnector1">
            <a:avLst/>
          </a:prstGeom>
          <a:noFill/>
          <a:ln w="76200">
            <a:solidFill>
              <a:srgbClr val="48B2FF"/>
            </a:solidFill>
            <a:prstDash val="solid"/>
            <a:headEnd type="none"/>
            <a:tailEnd type="none"/>
          </a:ln>
        </p:spPr>
      </p:sp>
      <p:sp>
        <p:nvSpPr>
          <p:cNvPr id="15" name="Text 13"/>
          <p:cNvSpPr/>
          <p:nvPr/>
        </p:nvSpPr>
        <p:spPr>
          <a:xfrm>
            <a:off x="1981200" y="6819900"/>
            <a:ext cx="5461000" cy="4889500"/>
          </a:xfrm>
          <a:prstGeom prst="rect">
            <a:avLst/>
          </a:prstGeom>
          <a:noFill/>
          <a:ln/>
        </p:spPr>
        <p:txBody>
          <a:bodyPr wrap="square" lIns="0" tIns="0" rIns="0" bIns="0" rtlCol="0" anchor="t"/>
          <a:lstStyle/>
          <a:p>
            <a:pPr algn="just">
              <a:lnSpc>
                <a:spcPct val="156000"/>
              </a:lnSpc>
            </a:pPr>
            <a:r>
              <a:rPr lang="en-US" sz="2700" dirty="0">
                <a:solidFill>
                  <a:srgbClr val="000000"/>
                </a:solidFill>
                <a:latin typeface="Liter" pitchFamily="34" charset="0"/>
                <a:ea typeface="Liter" pitchFamily="34" charset="-122"/>
                <a:cs typeface="Liter" pitchFamily="34" charset="-120"/>
              </a:rPr>
              <a:t>Built with JavaFX to deliver a smooth and engaging visual experience for players. The interface features intuitive navigation and responsive design.</a:t>
            </a:r>
            <a:endParaRPr lang="en-US" sz="2700" dirty="0"/>
          </a:p>
        </p:txBody>
      </p:sp>
      <p:sp>
        <p:nvSpPr>
          <p:cNvPr id="16" name="Shape 14"/>
          <p:cNvSpPr/>
          <p:nvPr/>
        </p:nvSpPr>
        <p:spPr>
          <a:xfrm>
            <a:off x="8851900" y="4826000"/>
            <a:ext cx="6680200" cy="7137400"/>
          </a:xfrm>
          <a:prstGeom prst="rect">
            <a:avLst/>
          </a:prstGeom>
          <a:solidFill>
            <a:srgbClr val="BFE4FF"/>
          </a:solidFill>
          <a:ln/>
        </p:spPr>
      </p:sp>
      <p:sp>
        <p:nvSpPr>
          <p:cNvPr id="17" name="Text 15"/>
          <p:cNvSpPr/>
          <p:nvPr/>
        </p:nvSpPr>
        <p:spPr>
          <a:xfrm>
            <a:off x="9994900" y="5651500"/>
            <a:ext cx="4381500" cy="711200"/>
          </a:xfrm>
          <a:prstGeom prst="rect">
            <a:avLst/>
          </a:prstGeom>
          <a:noFill/>
          <a:ln/>
        </p:spPr>
        <p:txBody>
          <a:bodyPr wrap="none" lIns="0" tIns="0" rIns="0" bIns="0" rtlCol="0" anchor="t"/>
          <a:lstStyle/>
          <a:p>
            <a:pPr algn="ctr">
              <a:lnSpc>
                <a:spcPct val="140000"/>
              </a:lnSpc>
            </a:pPr>
            <a:r>
              <a:rPr lang="en-US" sz="3500" dirty="0">
                <a:solidFill>
                  <a:srgbClr val="000000"/>
                </a:solidFill>
                <a:latin typeface="QuattrocentoSans" pitchFamily="34" charset="0"/>
                <a:ea typeface="QuattrocentoSans" pitchFamily="34" charset="-122"/>
                <a:cs typeface="QuattrocentoSans" pitchFamily="34" charset="-120"/>
              </a:rPr>
              <a:t>Film Guessing Core</a:t>
            </a:r>
            <a:endParaRPr lang="en-US" sz="3500" dirty="0"/>
          </a:p>
        </p:txBody>
      </p:sp>
      <p:sp>
        <p:nvSpPr>
          <p:cNvPr id="18" name="Shape 16"/>
          <p:cNvSpPr/>
          <p:nvPr/>
        </p:nvSpPr>
        <p:spPr>
          <a:xfrm>
            <a:off x="11671300" y="6477000"/>
            <a:ext cx="1041400" cy="0"/>
          </a:xfrm>
          <a:prstGeom prst="straightConnector1">
            <a:avLst/>
          </a:prstGeom>
          <a:noFill/>
          <a:ln w="76200">
            <a:solidFill>
              <a:srgbClr val="7EC8E3"/>
            </a:solidFill>
            <a:prstDash val="solid"/>
            <a:headEnd type="none"/>
            <a:tailEnd type="none"/>
          </a:ln>
        </p:spPr>
      </p:sp>
      <p:sp>
        <p:nvSpPr>
          <p:cNvPr id="19" name="Text 17"/>
          <p:cNvSpPr/>
          <p:nvPr/>
        </p:nvSpPr>
        <p:spPr>
          <a:xfrm>
            <a:off x="9461500" y="6819900"/>
            <a:ext cx="5461000" cy="4889500"/>
          </a:xfrm>
          <a:prstGeom prst="rect">
            <a:avLst/>
          </a:prstGeom>
          <a:noFill/>
          <a:ln/>
        </p:spPr>
        <p:txBody>
          <a:bodyPr wrap="square" lIns="0" tIns="0" rIns="0" bIns="0" rtlCol="0" anchor="t"/>
          <a:lstStyle/>
          <a:p>
            <a:pPr algn="just">
              <a:lnSpc>
                <a:spcPct val="156000"/>
              </a:lnSpc>
            </a:pPr>
            <a:r>
              <a:rPr lang="en-US" sz="2700" dirty="0">
                <a:solidFill>
                  <a:srgbClr val="000000"/>
                </a:solidFill>
                <a:latin typeface="Liter" pitchFamily="34" charset="0"/>
                <a:ea typeface="Liter" pitchFamily="34" charset="-122"/>
                <a:cs typeface="Liter" pitchFamily="34" charset="-120"/>
              </a:rPr>
              <a:t>Players predict film names from provided actor clues. The central guessing mechanic challenges cinema knowledge with progressive difficulty.</a:t>
            </a:r>
            <a:endParaRPr lang="en-US" sz="2700" dirty="0"/>
          </a:p>
        </p:txBody>
      </p:sp>
      <p:sp>
        <p:nvSpPr>
          <p:cNvPr id="20" name="Shape 18"/>
          <p:cNvSpPr/>
          <p:nvPr/>
        </p:nvSpPr>
        <p:spPr>
          <a:xfrm>
            <a:off x="16332200" y="4826000"/>
            <a:ext cx="6680200" cy="7137400"/>
          </a:xfrm>
          <a:prstGeom prst="rect">
            <a:avLst/>
          </a:prstGeom>
          <a:solidFill>
            <a:srgbClr val="7EC8E3"/>
          </a:solidFill>
          <a:ln/>
        </p:spPr>
      </p:sp>
      <p:sp>
        <p:nvSpPr>
          <p:cNvPr id="21" name="Text 19"/>
          <p:cNvSpPr/>
          <p:nvPr/>
        </p:nvSpPr>
        <p:spPr>
          <a:xfrm>
            <a:off x="17094200" y="5651500"/>
            <a:ext cx="5143500" cy="711200"/>
          </a:xfrm>
          <a:prstGeom prst="rect">
            <a:avLst/>
          </a:prstGeom>
          <a:noFill/>
          <a:ln/>
        </p:spPr>
        <p:txBody>
          <a:bodyPr wrap="none" lIns="0" tIns="0" rIns="0" bIns="0" rtlCol="0" anchor="t"/>
          <a:lstStyle/>
          <a:p>
            <a:pPr algn="ctr">
              <a:lnSpc>
                <a:spcPct val="140000"/>
              </a:lnSpc>
            </a:pPr>
            <a:r>
              <a:rPr lang="en-US" sz="3500" dirty="0">
                <a:solidFill>
                  <a:srgbClr val="000000"/>
                </a:solidFill>
                <a:latin typeface="QuattrocentoSans" pitchFamily="34" charset="0"/>
                <a:ea typeface="QuattrocentoSans" pitchFamily="34" charset="-122"/>
                <a:cs typeface="QuattrocentoSans" pitchFamily="34" charset="-120"/>
              </a:rPr>
              <a:t>Database &amp; Scoring</a:t>
            </a:r>
            <a:endParaRPr lang="en-US" sz="3500" dirty="0"/>
          </a:p>
        </p:txBody>
      </p:sp>
      <p:sp>
        <p:nvSpPr>
          <p:cNvPr id="22" name="Shape 20"/>
          <p:cNvSpPr/>
          <p:nvPr/>
        </p:nvSpPr>
        <p:spPr>
          <a:xfrm>
            <a:off x="19138900" y="6477000"/>
            <a:ext cx="1041400" cy="0"/>
          </a:xfrm>
          <a:prstGeom prst="straightConnector1">
            <a:avLst/>
          </a:prstGeom>
          <a:noFill/>
          <a:ln w="76200">
            <a:solidFill>
              <a:srgbClr val="48B2FF"/>
            </a:solidFill>
            <a:prstDash val="solid"/>
            <a:headEnd type="none"/>
            <a:tailEnd type="none"/>
          </a:ln>
        </p:spPr>
      </p:sp>
      <p:sp>
        <p:nvSpPr>
          <p:cNvPr id="23" name="Text 21"/>
          <p:cNvSpPr/>
          <p:nvPr/>
        </p:nvSpPr>
        <p:spPr>
          <a:xfrm>
            <a:off x="16941800" y="6819900"/>
            <a:ext cx="5461000" cy="4889500"/>
          </a:xfrm>
          <a:prstGeom prst="rect">
            <a:avLst/>
          </a:prstGeom>
          <a:noFill/>
          <a:ln/>
        </p:spPr>
        <p:txBody>
          <a:bodyPr wrap="square" lIns="0" tIns="0" rIns="0" bIns="0" rtlCol="0" anchor="t"/>
          <a:lstStyle/>
          <a:p>
            <a:pPr algn="just">
              <a:lnSpc>
                <a:spcPct val="156000"/>
              </a:lnSpc>
            </a:pPr>
            <a:r>
              <a:rPr lang="en-US" sz="2700" dirty="0">
                <a:solidFill>
                  <a:srgbClr val="000000"/>
                </a:solidFill>
                <a:latin typeface="Liter" pitchFamily="34" charset="0"/>
                <a:ea typeface="Liter" pitchFamily="34" charset="-122"/>
                <a:cs typeface="Liter" pitchFamily="34" charset="-120"/>
              </a:rPr>
              <a:t>MySQL integration manages film data, player progress, and in-game economy. Features a scoring mechanism with coins and defined level progression.</a:t>
            </a:r>
            <a:endParaRPr lang="en-US" sz="2700" dirty="0"/>
          </a:p>
        </p:txBody>
      </p:sp>
    </p:spTree>
  </p:cSld>
  <p:clrMapOvr>
    <a:masterClrMapping/>
  </p:clrMapOvr>
  <p:transition>
    <p:fade/>
    <p:spd val="med"/>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gradFill rotWithShape="1" flip="none">
          <a:gsLst>
            <a:gs pos="0">
              <a:srgbClr val="C7E2FF"/>
            </a:gs>
            <a:gs pos="50000">
              <a:srgbClr val="EAF4FF"/>
            </a:gs>
            <a:gs pos="100000">
              <a:srgbClr val="FFFFFF"/>
            </a:gs>
          </a:gsLst>
          <a:lin ang="2700000" scaled="1"/>
        </a:gradFill>
      </p:bgPr>
    </p:bg>
    <p:spTree>
      <p:nvGrpSpPr>
        <p:cNvPr id="1" name=""/>
        <p:cNvGrpSpPr/>
        <p:nvPr/>
      </p:nvGrpSpPr>
      <p:grpSpPr>
        <a:xfrm>
          <a:off x="0" y="0"/>
          <a:ext cx="0" cy="0"/>
          <a:chOff x="0" y="0"/>
          <a:chExt cx="0" cy="0"/>
        </a:xfrm>
      </p:grpSpPr>
      <p:sp>
        <p:nvSpPr>
          <p:cNvPr id="2" name="Text 0"/>
          <p:cNvSpPr/>
          <p:nvPr/>
        </p:nvSpPr>
        <p:spPr>
          <a:xfrm>
            <a:off x="1244600" y="1282700"/>
            <a:ext cx="7112000" cy="3314700"/>
          </a:xfrm>
          <a:prstGeom prst="rect">
            <a:avLst/>
          </a:prstGeom>
          <a:noFill/>
          <a:ln/>
        </p:spPr>
        <p:txBody>
          <a:bodyPr wrap="square" lIns="0" tIns="0" rIns="0" bIns="0" rtlCol="0" anchor="t"/>
          <a:lstStyle/>
          <a:p>
            <a:pPr>
              <a:lnSpc>
                <a:spcPct val="124000"/>
              </a:lnSpc>
            </a:pPr>
            <a:r>
              <a:rPr lang="en-US" sz="5800" dirty="0">
                <a:solidFill>
                  <a:srgbClr val="000000"/>
                </a:solidFill>
                <a:latin typeface="Quattrocento Sans" pitchFamily="34" charset="0"/>
                <a:ea typeface="Quattrocento Sans" pitchFamily="34" charset="-122"/>
                <a:cs typeface="Quattrocento Sans" pitchFamily="34" charset="-120"/>
              </a:rPr>
              <a:t>SYSTEM ARCHITECTURE OVERVIEW</a:t>
            </a:r>
            <a:endParaRPr lang="en-US" sz="1600" dirty="0"/>
          </a:p>
        </p:txBody>
      </p:sp>
      <p:sp>
        <p:nvSpPr>
          <p:cNvPr id="3" name="Shape 1"/>
          <p:cNvSpPr/>
          <p:nvPr/>
        </p:nvSpPr>
        <p:spPr>
          <a:xfrm>
            <a:off x="8521700" y="1574800"/>
            <a:ext cx="12522200" cy="0"/>
          </a:xfrm>
          <a:prstGeom prst="straightConnector1">
            <a:avLst/>
          </a:prstGeom>
          <a:noFill/>
          <a:ln w="9525">
            <a:solidFill>
              <a:srgbClr val="000000"/>
            </a:solidFill>
            <a:prstDash val="solid"/>
            <a:headEnd type="none"/>
            <a:tailEnd type="none"/>
          </a:ln>
        </p:spPr>
      </p:sp>
      <p:sp>
        <p:nvSpPr>
          <p:cNvPr id="4" name="Text 2"/>
          <p:cNvSpPr/>
          <p:nvPr/>
        </p:nvSpPr>
        <p:spPr>
          <a:xfrm>
            <a:off x="6477000" y="3657600"/>
            <a:ext cx="5842000" cy="825500"/>
          </a:xfrm>
          <a:prstGeom prst="rect">
            <a:avLst/>
          </a:prstGeom>
          <a:noFill/>
          <a:ln/>
        </p:spPr>
        <p:txBody>
          <a:bodyPr wrap="none" lIns="0" tIns="0" rIns="0" bIns="0" rtlCol="0" anchor="t"/>
          <a:lstStyle/>
          <a:p>
            <a:pPr>
              <a:lnSpc>
                <a:spcPct val="140000"/>
              </a:lnSpc>
            </a:pPr>
            <a:r>
              <a:rPr lang="en-US" sz="4100" dirty="0">
                <a:solidFill>
                  <a:srgbClr val="000000"/>
                </a:solidFill>
                <a:latin typeface="QuattrocentoSans" pitchFamily="34" charset="0"/>
                <a:ea typeface="QuattrocentoSans" pitchFamily="34" charset="-122"/>
                <a:cs typeface="QuattrocentoSans" pitchFamily="34" charset="-120"/>
              </a:rPr>
              <a:t>Architecture Design</a:t>
            </a:r>
            <a:endParaRPr lang="en-US" sz="4100" dirty="0"/>
          </a:p>
        </p:txBody>
      </p:sp>
      <p:sp>
        <p:nvSpPr>
          <p:cNvPr id="5" name="Text 3"/>
          <p:cNvSpPr/>
          <p:nvPr/>
        </p:nvSpPr>
        <p:spPr>
          <a:xfrm>
            <a:off x="18161000" y="1244600"/>
            <a:ext cx="5207000" cy="635000"/>
          </a:xfrm>
          <a:prstGeom prst="rect">
            <a:avLst/>
          </a:prstGeom>
          <a:noFill/>
          <a:ln/>
        </p:spPr>
        <p:txBody>
          <a:bodyPr wrap="none" lIns="0" tIns="0" rIns="0" bIns="0" rtlCol="0" anchor="t"/>
          <a:lstStyle/>
          <a:p>
            <a:pPr algn="r">
              <a:lnSpc>
                <a:spcPct val="140000"/>
              </a:lnSpc>
            </a:pPr>
            <a:r>
              <a:rPr lang="en-US" sz="2900" spc="400" kern="0" dirty="0">
                <a:solidFill>
                  <a:srgbClr val="000000"/>
                </a:solidFill>
                <a:latin typeface="Liter" pitchFamily="34" charset="0"/>
                <a:ea typeface="Liter" pitchFamily="34" charset="-122"/>
                <a:cs typeface="Liter" pitchFamily="34" charset="-120"/>
              </a:rPr>
              <a:t>PART 01</a:t>
            </a:r>
            <a:endParaRPr lang="en-US" sz="2900" dirty="0"/>
          </a:p>
        </p:txBody>
      </p:sp>
      <p:sp>
        <p:nvSpPr>
          <p:cNvPr id="6" name="Shape 4"/>
          <p:cNvSpPr/>
          <p:nvPr/>
        </p:nvSpPr>
        <p:spPr>
          <a:xfrm rot="5400000">
            <a:off x="1346200" y="4787900"/>
            <a:ext cx="368300" cy="330200"/>
          </a:xfrm>
          <a:prstGeom prst="triangle">
            <a:avLst>
              <a:gd name="adj" fmla="val 50000"/>
            </a:avLst>
          </a:prstGeom>
          <a:solidFill>
            <a:srgbClr val="004AAD"/>
          </a:solidFill>
          <a:ln/>
        </p:spPr>
      </p:sp>
      <p:sp>
        <p:nvSpPr>
          <p:cNvPr id="7" name="Shape 5"/>
          <p:cNvSpPr/>
          <p:nvPr/>
        </p:nvSpPr>
        <p:spPr>
          <a:xfrm rot="5400000">
            <a:off x="1854200" y="4787900"/>
            <a:ext cx="368300" cy="330200"/>
          </a:xfrm>
          <a:prstGeom prst="triangle">
            <a:avLst>
              <a:gd name="adj" fmla="val 50000"/>
            </a:avLst>
          </a:prstGeom>
          <a:solidFill>
            <a:srgbClr val="004AAD"/>
          </a:solidFill>
          <a:ln/>
        </p:spPr>
      </p:sp>
      <p:sp>
        <p:nvSpPr>
          <p:cNvPr id="8" name="Shape 6"/>
          <p:cNvSpPr/>
          <p:nvPr/>
        </p:nvSpPr>
        <p:spPr>
          <a:xfrm rot="5400000">
            <a:off x="2349500" y="4787900"/>
            <a:ext cx="368300" cy="330200"/>
          </a:xfrm>
          <a:prstGeom prst="triangle">
            <a:avLst>
              <a:gd name="adj" fmla="val 50000"/>
            </a:avLst>
          </a:prstGeom>
          <a:solidFill>
            <a:srgbClr val="004AAD"/>
          </a:solidFill>
          <a:ln/>
        </p:spPr>
      </p:sp>
      <p:sp>
        <p:nvSpPr>
          <p:cNvPr id="9" name="Shape 7"/>
          <p:cNvSpPr/>
          <p:nvPr/>
        </p:nvSpPr>
        <p:spPr>
          <a:xfrm rot="5400000">
            <a:off x="2857500" y="4787900"/>
            <a:ext cx="368300" cy="330200"/>
          </a:xfrm>
          <a:prstGeom prst="triangle">
            <a:avLst>
              <a:gd name="adj" fmla="val 50000"/>
            </a:avLst>
          </a:prstGeom>
          <a:solidFill>
            <a:srgbClr val="004AAD"/>
          </a:solidFill>
          <a:ln/>
        </p:spPr>
      </p:sp>
      <p:sp>
        <p:nvSpPr>
          <p:cNvPr id="10" name="Shape 8"/>
          <p:cNvSpPr/>
          <p:nvPr/>
        </p:nvSpPr>
        <p:spPr>
          <a:xfrm rot="5400000">
            <a:off x="3352800" y="4787900"/>
            <a:ext cx="368300" cy="330200"/>
          </a:xfrm>
          <a:prstGeom prst="triangle">
            <a:avLst>
              <a:gd name="adj" fmla="val 50000"/>
            </a:avLst>
          </a:prstGeom>
          <a:solidFill>
            <a:srgbClr val="004AAD"/>
          </a:solidFill>
          <a:ln/>
        </p:spPr>
      </p:sp>
      <p:sp>
        <p:nvSpPr>
          <p:cNvPr id="11" name="Shape 9"/>
          <p:cNvSpPr/>
          <p:nvPr/>
        </p:nvSpPr>
        <p:spPr>
          <a:xfrm rot="5400000">
            <a:off x="3860800" y="4787900"/>
            <a:ext cx="368300" cy="330200"/>
          </a:xfrm>
          <a:prstGeom prst="triangle">
            <a:avLst>
              <a:gd name="adj" fmla="val 50000"/>
            </a:avLst>
          </a:prstGeom>
          <a:solidFill>
            <a:srgbClr val="004AAD"/>
          </a:solidFill>
          <a:ln/>
        </p:spPr>
      </p:sp>
      <p:sp>
        <p:nvSpPr>
          <p:cNvPr id="12" name="Shape 10"/>
          <p:cNvSpPr/>
          <p:nvPr/>
        </p:nvSpPr>
        <p:spPr>
          <a:xfrm>
            <a:off x="1371600" y="5981700"/>
            <a:ext cx="4787900" cy="863600"/>
          </a:xfrm>
          <a:prstGeom prst="rect">
            <a:avLst/>
          </a:prstGeom>
          <a:solidFill>
            <a:srgbClr val="7EC8E3"/>
          </a:solidFill>
          <a:ln/>
        </p:spPr>
      </p:sp>
      <p:sp>
        <p:nvSpPr>
          <p:cNvPr id="13" name="Shape 11"/>
          <p:cNvSpPr/>
          <p:nvPr/>
        </p:nvSpPr>
        <p:spPr>
          <a:xfrm>
            <a:off x="1371600" y="5981700"/>
            <a:ext cx="190500" cy="863600"/>
          </a:xfrm>
          <a:prstGeom prst="rect">
            <a:avLst/>
          </a:prstGeom>
          <a:solidFill>
            <a:srgbClr val="48B2FF"/>
          </a:solidFill>
          <a:ln/>
        </p:spPr>
      </p:sp>
      <p:sp>
        <p:nvSpPr>
          <p:cNvPr id="14" name="Text 12"/>
          <p:cNvSpPr/>
          <p:nvPr/>
        </p:nvSpPr>
        <p:spPr>
          <a:xfrm>
            <a:off x="1803400" y="6032500"/>
            <a:ext cx="4191000" cy="711200"/>
          </a:xfrm>
          <a:prstGeom prst="rect">
            <a:avLst/>
          </a:prstGeom>
          <a:noFill/>
          <a:ln/>
        </p:spPr>
        <p:txBody>
          <a:bodyPr wrap="none" lIns="0" tIns="0" rIns="0" bIns="0" rtlCol="0" anchor="t"/>
          <a:lstStyle/>
          <a:p>
            <a:pPr>
              <a:lnSpc>
                <a:spcPct val="140000"/>
              </a:lnSpc>
            </a:pPr>
            <a:r>
              <a:rPr lang="en-US" sz="3500" dirty="0">
                <a:solidFill>
                  <a:srgbClr val="000000"/>
                </a:solidFill>
                <a:latin typeface="QuattrocentoSans" pitchFamily="34" charset="0"/>
                <a:ea typeface="QuattrocentoSans" pitchFamily="34" charset="-122"/>
                <a:cs typeface="QuattrocentoSans" pitchFamily="34" charset="-120"/>
              </a:rPr>
              <a:t>Three-Tier Design</a:t>
            </a:r>
            <a:endParaRPr lang="en-US" sz="3500" dirty="0"/>
          </a:p>
        </p:txBody>
      </p:sp>
      <p:sp>
        <p:nvSpPr>
          <p:cNvPr id="15" name="Text 13"/>
          <p:cNvSpPr/>
          <p:nvPr/>
        </p:nvSpPr>
        <p:spPr>
          <a:xfrm>
            <a:off x="1244600" y="7099300"/>
            <a:ext cx="9804400" cy="3302000"/>
          </a:xfrm>
          <a:prstGeom prst="rect">
            <a:avLst/>
          </a:prstGeom>
          <a:noFill/>
          <a:ln/>
        </p:spPr>
        <p:txBody>
          <a:bodyPr wrap="square" lIns="0" tIns="0" rIns="0" bIns="0" rtlCol="0" anchor="t"/>
          <a:lstStyle/>
          <a:p>
            <a:pPr algn="just">
              <a:lnSpc>
                <a:spcPct val="156000"/>
              </a:lnSpc>
            </a:pPr>
            <a:r>
              <a:rPr lang="en-US" sz="2700" dirty="0">
                <a:solidFill>
                  <a:srgbClr val="000000"/>
                </a:solidFill>
                <a:latin typeface="Liter" pitchFamily="34" charset="0"/>
                <a:ea typeface="Liter" pitchFamily="34" charset="-122"/>
                <a:cs typeface="Liter" pitchFamily="34" charset="-120"/>
              </a:rPr>
              <a:t>The application adopts a client-server architectural principle. The JavaFX application serves as the client front-end, while MySQL acts as the data backend. A REST/JDBC communication layer bridges the two tiers, enabling seamless data exchange.</a:t>
            </a:r>
            <a:endParaRPr lang="en-US" sz="2700" dirty="0"/>
          </a:p>
        </p:txBody>
      </p:sp>
      <p:sp>
        <p:nvSpPr>
          <p:cNvPr id="16" name="Text 14"/>
          <p:cNvSpPr/>
          <p:nvPr/>
        </p:nvSpPr>
        <p:spPr>
          <a:xfrm>
            <a:off x="1244600" y="10604500"/>
            <a:ext cx="9804400" cy="1689100"/>
          </a:xfrm>
          <a:prstGeom prst="rect">
            <a:avLst/>
          </a:prstGeom>
          <a:noFill/>
          <a:ln/>
        </p:spPr>
        <p:txBody>
          <a:bodyPr wrap="square" lIns="0" tIns="0" rIns="0" bIns="0" rtlCol="0" anchor="t"/>
          <a:lstStyle/>
          <a:p>
            <a:pPr algn="just">
              <a:lnSpc>
                <a:spcPct val="156000"/>
              </a:lnSpc>
            </a:pPr>
            <a:r>
              <a:rPr lang="en-US" sz="2700" dirty="0">
                <a:solidFill>
                  <a:srgbClr val="004AAD"/>
                </a:solidFill>
                <a:latin typeface="Liter" pitchFamily="34" charset="0"/>
                <a:ea typeface="Liter" pitchFamily="34" charset="-122"/>
                <a:cs typeface="Liter" pitchFamily="34" charset="-120"/>
              </a:rPr>
              <a:t>This separation ensures maintainability, scalability, and clean separation of concerns between presentation and data layers.</a:t>
            </a:r>
            <a:endParaRPr lang="en-US" sz="1600" dirty="0"/>
          </a:p>
        </p:txBody>
      </p:sp>
      <p:pic>
        <p:nvPicPr>
          <p:cNvPr id="17" name="Image 0" descr="https://kimi-img.moonshot.cn/pub/slides/okc/vtbfi56czv24i/mnt/agents/output/film-guessing-game/images/1_Client_Server_Architecture_Explaine.png">    </p:cNvPr>
          <p:cNvPicPr>
            <a:picLocks noChangeAspect="1"/>
          </p:cNvPicPr>
          <p:nvPr/>
        </p:nvPicPr>
        <p:blipFill>
          <a:blip r:embed="rId1"/>
          <a:srcRect l="0" r="0" t="-24982" b="-24982"/>
          <a:stretch/>
        </p:blipFill>
        <p:spPr>
          <a:xfrm>
            <a:off x="11633200" y="2552700"/>
            <a:ext cx="11607800" cy="9791700"/>
          </a:xfrm>
          <a:prstGeom prst="rect">
            <a:avLst/>
          </a:prstGeom>
        </p:spPr>
      </p:pic>
    </p:spTree>
  </p:cSld>
  <p:clrMapOvr>
    <a:masterClrMapping/>
  </p:clrMapOvr>
  <p:transition>
    <p:fade/>
    <p:spd val="med"/>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gradFill rotWithShape="1" flip="none">
          <a:gsLst>
            <a:gs pos="0">
              <a:srgbClr val="FFFFFF"/>
            </a:gs>
            <a:gs pos="50000">
              <a:srgbClr val="EAF4FF"/>
            </a:gs>
            <a:gs pos="100000">
              <a:srgbClr val="C7E2FF"/>
            </a:gs>
          </a:gsLst>
          <a:path path="circle"/>
        </a:gradFill>
      </p:bgPr>
    </p:bg>
    <p:spTree>
      <p:nvGrpSpPr>
        <p:cNvPr id="1" name=""/>
        <p:cNvGrpSpPr/>
        <p:nvPr/>
      </p:nvGrpSpPr>
      <p:grpSpPr>
        <a:xfrm>
          <a:off x="0" y="0"/>
          <a:ext cx="0" cy="0"/>
          <a:chOff x="0" y="0"/>
          <a:chExt cx="0" cy="0"/>
        </a:xfrm>
      </p:grpSpPr>
      <p:sp>
        <p:nvSpPr>
          <p:cNvPr id="2" name="Text 0"/>
          <p:cNvSpPr/>
          <p:nvPr/>
        </p:nvSpPr>
        <p:spPr>
          <a:xfrm>
            <a:off x="9232900" y="2819400"/>
            <a:ext cx="5918200" cy="4432300"/>
          </a:xfrm>
          <a:prstGeom prst="rect">
            <a:avLst/>
          </a:prstGeom>
          <a:noFill/>
          <a:ln/>
        </p:spPr>
        <p:txBody>
          <a:bodyPr wrap="none" lIns="0" tIns="0" rIns="0" bIns="0" rtlCol="0" anchor="t"/>
          <a:lstStyle/>
          <a:p>
            <a:pPr algn="ctr">
              <a:lnSpc>
                <a:spcPct val="140000"/>
              </a:lnSpc>
            </a:pPr>
            <a:r>
              <a:rPr lang="en-US" sz="24500" dirty="0">
                <a:solidFill>
                  <a:srgbClr val="004AAD"/>
                </a:solidFill>
                <a:latin typeface="QuattrocentoSans" pitchFamily="34" charset="0"/>
                <a:ea typeface="QuattrocentoSans" pitchFamily="34" charset="-122"/>
                <a:cs typeface="QuattrocentoSans" pitchFamily="34" charset="-120"/>
              </a:rPr>
              <a:t>02</a:t>
            </a:r>
            <a:endParaRPr lang="en-US" sz="24500" dirty="0"/>
          </a:p>
        </p:txBody>
      </p:sp>
      <p:sp>
        <p:nvSpPr>
          <p:cNvPr id="3" name="Shape 1"/>
          <p:cNvSpPr/>
          <p:nvPr/>
        </p:nvSpPr>
        <p:spPr>
          <a:xfrm>
            <a:off x="8382000" y="8458200"/>
            <a:ext cx="7607300" cy="0"/>
          </a:xfrm>
          <a:prstGeom prst="straightConnector1">
            <a:avLst/>
          </a:prstGeom>
          <a:noFill/>
          <a:ln w="28575">
            <a:solidFill>
              <a:srgbClr val="004AAD"/>
            </a:solidFill>
            <a:prstDash val="solid"/>
            <a:headEnd type="none"/>
            <a:tailEnd type="none"/>
          </a:ln>
        </p:spPr>
      </p:sp>
      <p:sp>
        <p:nvSpPr>
          <p:cNvPr id="4" name="Text 2"/>
          <p:cNvSpPr/>
          <p:nvPr/>
        </p:nvSpPr>
        <p:spPr>
          <a:xfrm>
            <a:off x="6565900" y="6616700"/>
            <a:ext cx="11239500" cy="1587500"/>
          </a:xfrm>
          <a:prstGeom prst="rect">
            <a:avLst/>
          </a:prstGeom>
          <a:noFill/>
          <a:ln/>
        </p:spPr>
        <p:txBody>
          <a:bodyPr wrap="none" lIns="0" tIns="0" rIns="0" bIns="0" rtlCol="0" anchor="t"/>
          <a:lstStyle/>
          <a:p>
            <a:pPr algn="ctr">
              <a:lnSpc>
                <a:spcPct val="140000"/>
              </a:lnSpc>
            </a:pPr>
            <a:r>
              <a:rPr lang="en-US" sz="8500" dirty="0">
                <a:solidFill>
                  <a:srgbClr val="000000"/>
                </a:solidFill>
                <a:latin typeface="QuattrocentoSans" pitchFamily="34" charset="0"/>
                <a:ea typeface="QuattrocentoSans" pitchFamily="34" charset="-122"/>
                <a:cs typeface="QuattrocentoSans" pitchFamily="34" charset="-120"/>
              </a:rPr>
              <a:t>System Architecture</a:t>
            </a:r>
            <a:endParaRPr lang="en-US" sz="8500" dirty="0"/>
          </a:p>
        </p:txBody>
      </p:sp>
      <p:sp>
        <p:nvSpPr>
          <p:cNvPr id="5" name="Text 3"/>
          <p:cNvSpPr/>
          <p:nvPr/>
        </p:nvSpPr>
        <p:spPr>
          <a:xfrm>
            <a:off x="6997700" y="8763000"/>
            <a:ext cx="10401300" cy="1397000"/>
          </a:xfrm>
          <a:prstGeom prst="rect">
            <a:avLst/>
          </a:prstGeom>
          <a:noFill/>
          <a:ln/>
        </p:spPr>
        <p:txBody>
          <a:bodyPr wrap="square" lIns="0" tIns="0" rIns="0" bIns="0" rtlCol="0" anchor="t"/>
          <a:lstStyle/>
          <a:p>
            <a:pPr algn="ctr">
              <a:lnSpc>
                <a:spcPct val="100000"/>
              </a:lnSpc>
            </a:pPr>
            <a:r>
              <a:rPr lang="en-US" sz="4000" dirty="0">
                <a:solidFill>
                  <a:srgbClr val="737373"/>
                </a:solidFill>
                <a:latin typeface="Quattrocento Sans" pitchFamily="34" charset="0"/>
                <a:ea typeface="Quattrocento Sans" pitchFamily="34" charset="-122"/>
                <a:cs typeface="Quattrocento Sans" pitchFamily="34" charset="-120"/>
              </a:rPr>
              <a:t>Client-server design and data flow</a:t>
            </a:r>
            <a:endParaRPr lang="en-US" sz="1600" dirty="0"/>
          </a:p>
        </p:txBody>
      </p:sp>
      <p:sp>
        <p:nvSpPr>
          <p:cNvPr id="6" name="Text 4"/>
          <p:cNvSpPr/>
          <p:nvPr/>
        </p:nvSpPr>
        <p:spPr>
          <a:xfrm>
            <a:off x="1016000" y="800100"/>
            <a:ext cx="11036300" cy="635000"/>
          </a:xfrm>
          <a:prstGeom prst="rect">
            <a:avLst/>
          </a:prstGeom>
          <a:noFill/>
          <a:ln/>
        </p:spPr>
        <p:txBody>
          <a:bodyPr wrap="none" lIns="0" tIns="0" rIns="0" bIns="0" rtlCol="0" anchor="t"/>
          <a:lstStyle/>
          <a:p>
            <a:pPr algn="just">
              <a:lnSpc>
                <a:spcPct val="140000"/>
              </a:lnSpc>
            </a:pPr>
            <a:r>
              <a:rPr lang="en-US" sz="2900" spc="400" kern="0" dirty="0">
                <a:solidFill>
                  <a:srgbClr val="000000"/>
                </a:solidFill>
                <a:latin typeface="Liter" pitchFamily="34" charset="0"/>
                <a:ea typeface="Liter" pitchFamily="34" charset="-122"/>
                <a:cs typeface="Liter" pitchFamily="34" charset="-120"/>
              </a:rPr>
              <a:t>FILM GUESSING GAME</a:t>
            </a:r>
            <a:endParaRPr lang="en-US" sz="2900" dirty="0"/>
          </a:p>
        </p:txBody>
      </p:sp>
      <p:sp>
        <p:nvSpPr>
          <p:cNvPr id="7" name="Text 5"/>
          <p:cNvSpPr/>
          <p:nvPr/>
        </p:nvSpPr>
        <p:spPr>
          <a:xfrm>
            <a:off x="18161000" y="800100"/>
            <a:ext cx="5207000" cy="635000"/>
          </a:xfrm>
          <a:prstGeom prst="rect">
            <a:avLst/>
          </a:prstGeom>
          <a:noFill/>
          <a:ln/>
        </p:spPr>
        <p:txBody>
          <a:bodyPr wrap="none" lIns="0" tIns="0" rIns="0" bIns="0" rtlCol="0" anchor="t"/>
          <a:lstStyle/>
          <a:p>
            <a:pPr algn="r">
              <a:lnSpc>
                <a:spcPct val="140000"/>
              </a:lnSpc>
            </a:pPr>
            <a:r>
              <a:rPr lang="en-US" sz="2900" spc="400" kern="0" dirty="0">
                <a:solidFill>
                  <a:srgbClr val="000000"/>
                </a:solidFill>
                <a:latin typeface="Liter" pitchFamily="34" charset="0"/>
                <a:ea typeface="Liter" pitchFamily="34" charset="-122"/>
                <a:cs typeface="Liter" pitchFamily="34" charset="-120"/>
              </a:rPr>
              <a:t>PART 02</a:t>
            </a:r>
            <a:endParaRPr lang="en-US" sz="2900" dirty="0"/>
          </a:p>
        </p:txBody>
      </p:sp>
    </p:spTree>
  </p:cSld>
  <p:clrMapOvr>
    <a:masterClrMapping/>
  </p:clrMapOvr>
  <p:transition>
    <p:fade/>
    <p:spd val="med"/>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gradFill rotWithShape="1" flip="none">
          <a:gsLst>
            <a:gs pos="0">
              <a:srgbClr val="C7E2FF"/>
            </a:gs>
            <a:gs pos="50000">
              <a:srgbClr val="EAF4FF"/>
            </a:gs>
            <a:gs pos="100000">
              <a:srgbClr val="FFFFFF"/>
            </a:gs>
          </a:gsLst>
          <a:lin ang="2700000" scaled="1"/>
        </a:gradFill>
      </p:bgPr>
    </p:bg>
    <p:spTree>
      <p:nvGrpSpPr>
        <p:cNvPr id="1" name=""/>
        <p:cNvGrpSpPr/>
        <p:nvPr/>
      </p:nvGrpSpPr>
      <p:grpSpPr>
        <a:xfrm>
          <a:off x="0" y="0"/>
          <a:ext cx="0" cy="0"/>
          <a:chOff x="0" y="0"/>
          <a:chExt cx="0" cy="0"/>
        </a:xfrm>
      </p:grpSpPr>
      <p:sp>
        <p:nvSpPr>
          <p:cNvPr id="2" name="Text 0"/>
          <p:cNvSpPr/>
          <p:nvPr/>
        </p:nvSpPr>
        <p:spPr>
          <a:xfrm>
            <a:off x="1244600" y="1282700"/>
            <a:ext cx="10363200" cy="2247900"/>
          </a:xfrm>
          <a:prstGeom prst="rect">
            <a:avLst/>
          </a:prstGeom>
          <a:noFill/>
          <a:ln/>
        </p:spPr>
        <p:txBody>
          <a:bodyPr wrap="square" lIns="0" tIns="0" rIns="0" bIns="0" rtlCol="0" anchor="t"/>
          <a:lstStyle/>
          <a:p>
            <a:pPr>
              <a:lnSpc>
                <a:spcPct val="124000"/>
              </a:lnSpc>
            </a:pPr>
            <a:r>
              <a:rPr lang="en-US" sz="6800" dirty="0">
                <a:solidFill>
                  <a:srgbClr val="000000"/>
                </a:solidFill>
                <a:latin typeface="QuattrocentoSans" pitchFamily="34" charset="0"/>
                <a:ea typeface="QuattrocentoSans" pitchFamily="34" charset="-122"/>
                <a:cs typeface="QuattrocentoSans" pitchFamily="34" charset="-120"/>
              </a:rPr>
              <a:t>CLIENT-SERVER MODEL</a:t>
            </a:r>
            <a:endParaRPr lang="en-US" sz="6800" dirty="0"/>
          </a:p>
        </p:txBody>
      </p:sp>
      <p:sp>
        <p:nvSpPr>
          <p:cNvPr id="3" name="Shape 1"/>
          <p:cNvSpPr/>
          <p:nvPr/>
        </p:nvSpPr>
        <p:spPr>
          <a:xfrm>
            <a:off x="11264900" y="1574800"/>
            <a:ext cx="9779000" cy="0"/>
          </a:xfrm>
          <a:prstGeom prst="straightConnector1">
            <a:avLst/>
          </a:prstGeom>
          <a:noFill/>
          <a:ln w="9525">
            <a:solidFill>
              <a:srgbClr val="000000"/>
            </a:solidFill>
            <a:prstDash val="solid"/>
            <a:headEnd type="none"/>
            <a:tailEnd type="none"/>
          </a:ln>
        </p:spPr>
      </p:sp>
      <p:sp>
        <p:nvSpPr>
          <p:cNvPr id="4" name="Text 2"/>
          <p:cNvSpPr/>
          <p:nvPr/>
        </p:nvSpPr>
        <p:spPr>
          <a:xfrm>
            <a:off x="8242300" y="2565400"/>
            <a:ext cx="4660900" cy="825500"/>
          </a:xfrm>
          <a:prstGeom prst="rect">
            <a:avLst/>
          </a:prstGeom>
          <a:noFill/>
          <a:ln/>
        </p:spPr>
        <p:txBody>
          <a:bodyPr wrap="none" lIns="0" tIns="0" rIns="0" bIns="0" rtlCol="0" anchor="t"/>
          <a:lstStyle/>
          <a:p>
            <a:pPr>
              <a:lnSpc>
                <a:spcPct val="140000"/>
              </a:lnSpc>
            </a:pPr>
            <a:r>
              <a:rPr lang="en-US" sz="4100" dirty="0">
                <a:solidFill>
                  <a:srgbClr val="000000"/>
                </a:solidFill>
                <a:latin typeface="QuattrocentoSans" pitchFamily="34" charset="0"/>
                <a:ea typeface="QuattrocentoSans" pitchFamily="34" charset="-122"/>
                <a:cs typeface="QuattrocentoSans" pitchFamily="34" charset="-120"/>
              </a:rPr>
              <a:t>Architecture Detail</a:t>
            </a:r>
            <a:endParaRPr lang="en-US" sz="4100" dirty="0"/>
          </a:p>
        </p:txBody>
      </p:sp>
      <p:sp>
        <p:nvSpPr>
          <p:cNvPr id="5" name="Text 3"/>
          <p:cNvSpPr/>
          <p:nvPr/>
        </p:nvSpPr>
        <p:spPr>
          <a:xfrm>
            <a:off x="18161000" y="1244600"/>
            <a:ext cx="5207000" cy="635000"/>
          </a:xfrm>
          <a:prstGeom prst="rect">
            <a:avLst/>
          </a:prstGeom>
          <a:noFill/>
          <a:ln/>
        </p:spPr>
        <p:txBody>
          <a:bodyPr wrap="none" lIns="0" tIns="0" rIns="0" bIns="0" rtlCol="0" anchor="t"/>
          <a:lstStyle/>
          <a:p>
            <a:pPr algn="r">
              <a:lnSpc>
                <a:spcPct val="140000"/>
              </a:lnSpc>
            </a:pPr>
            <a:r>
              <a:rPr lang="en-US" sz="2900" spc="400" kern="0" dirty="0">
                <a:solidFill>
                  <a:srgbClr val="000000"/>
                </a:solidFill>
                <a:latin typeface="Liter" pitchFamily="34" charset="0"/>
                <a:ea typeface="Liter" pitchFamily="34" charset="-122"/>
                <a:cs typeface="Liter" pitchFamily="34" charset="-120"/>
              </a:rPr>
              <a:t>PART 02</a:t>
            </a:r>
            <a:endParaRPr lang="en-US" sz="2900" dirty="0"/>
          </a:p>
        </p:txBody>
      </p:sp>
      <p:sp>
        <p:nvSpPr>
          <p:cNvPr id="6" name="Shape 4"/>
          <p:cNvSpPr/>
          <p:nvPr/>
        </p:nvSpPr>
        <p:spPr>
          <a:xfrm rot="5400000">
            <a:off x="1346200" y="3835400"/>
            <a:ext cx="368300" cy="330200"/>
          </a:xfrm>
          <a:prstGeom prst="triangle">
            <a:avLst>
              <a:gd name="adj" fmla="val 50000"/>
            </a:avLst>
          </a:prstGeom>
          <a:solidFill>
            <a:srgbClr val="004AAD"/>
          </a:solidFill>
          <a:ln/>
        </p:spPr>
      </p:sp>
      <p:sp>
        <p:nvSpPr>
          <p:cNvPr id="7" name="Shape 5"/>
          <p:cNvSpPr/>
          <p:nvPr/>
        </p:nvSpPr>
        <p:spPr>
          <a:xfrm rot="5400000">
            <a:off x="1854200" y="3835400"/>
            <a:ext cx="368300" cy="330200"/>
          </a:xfrm>
          <a:prstGeom prst="triangle">
            <a:avLst>
              <a:gd name="adj" fmla="val 50000"/>
            </a:avLst>
          </a:prstGeom>
          <a:solidFill>
            <a:srgbClr val="004AAD"/>
          </a:solidFill>
          <a:ln/>
        </p:spPr>
      </p:sp>
      <p:sp>
        <p:nvSpPr>
          <p:cNvPr id="8" name="Shape 6"/>
          <p:cNvSpPr/>
          <p:nvPr/>
        </p:nvSpPr>
        <p:spPr>
          <a:xfrm rot="5400000">
            <a:off x="2349500" y="3835400"/>
            <a:ext cx="368300" cy="330200"/>
          </a:xfrm>
          <a:prstGeom prst="triangle">
            <a:avLst>
              <a:gd name="adj" fmla="val 50000"/>
            </a:avLst>
          </a:prstGeom>
          <a:solidFill>
            <a:srgbClr val="004AAD"/>
          </a:solidFill>
          <a:ln/>
        </p:spPr>
      </p:sp>
      <p:sp>
        <p:nvSpPr>
          <p:cNvPr id="9" name="Shape 7"/>
          <p:cNvSpPr/>
          <p:nvPr/>
        </p:nvSpPr>
        <p:spPr>
          <a:xfrm rot="5400000">
            <a:off x="2857500" y="3835400"/>
            <a:ext cx="368300" cy="330200"/>
          </a:xfrm>
          <a:prstGeom prst="triangle">
            <a:avLst>
              <a:gd name="adj" fmla="val 50000"/>
            </a:avLst>
          </a:prstGeom>
          <a:solidFill>
            <a:srgbClr val="004AAD"/>
          </a:solidFill>
          <a:ln/>
        </p:spPr>
      </p:sp>
      <p:sp>
        <p:nvSpPr>
          <p:cNvPr id="10" name="Shape 8"/>
          <p:cNvSpPr/>
          <p:nvPr/>
        </p:nvSpPr>
        <p:spPr>
          <a:xfrm rot="5400000">
            <a:off x="3352800" y="3835400"/>
            <a:ext cx="368300" cy="330200"/>
          </a:xfrm>
          <a:prstGeom prst="triangle">
            <a:avLst>
              <a:gd name="adj" fmla="val 50000"/>
            </a:avLst>
          </a:prstGeom>
          <a:solidFill>
            <a:srgbClr val="004AAD"/>
          </a:solidFill>
          <a:ln/>
        </p:spPr>
      </p:sp>
      <p:sp>
        <p:nvSpPr>
          <p:cNvPr id="11" name="Shape 9"/>
          <p:cNvSpPr/>
          <p:nvPr/>
        </p:nvSpPr>
        <p:spPr>
          <a:xfrm rot="5400000">
            <a:off x="3860800" y="3835400"/>
            <a:ext cx="368300" cy="330200"/>
          </a:xfrm>
          <a:prstGeom prst="triangle">
            <a:avLst>
              <a:gd name="adj" fmla="val 50000"/>
            </a:avLst>
          </a:prstGeom>
          <a:solidFill>
            <a:srgbClr val="004AAD"/>
          </a:solidFill>
          <a:ln/>
        </p:spPr>
      </p:sp>
      <p:sp>
        <p:nvSpPr>
          <p:cNvPr id="12" name="Shape 10"/>
          <p:cNvSpPr/>
          <p:nvPr/>
        </p:nvSpPr>
        <p:spPr>
          <a:xfrm>
            <a:off x="1371600" y="4826000"/>
            <a:ext cx="6680200" cy="863600"/>
          </a:xfrm>
          <a:prstGeom prst="rect">
            <a:avLst/>
          </a:prstGeom>
          <a:solidFill>
            <a:srgbClr val="7EC8E3"/>
          </a:solidFill>
          <a:ln/>
        </p:spPr>
      </p:sp>
      <p:sp>
        <p:nvSpPr>
          <p:cNvPr id="13" name="Shape 11"/>
          <p:cNvSpPr/>
          <p:nvPr/>
        </p:nvSpPr>
        <p:spPr>
          <a:xfrm>
            <a:off x="1371600" y="4826000"/>
            <a:ext cx="190500" cy="863600"/>
          </a:xfrm>
          <a:prstGeom prst="rect">
            <a:avLst/>
          </a:prstGeom>
          <a:solidFill>
            <a:srgbClr val="48B2FF"/>
          </a:solidFill>
          <a:ln/>
        </p:spPr>
      </p:sp>
      <p:sp>
        <p:nvSpPr>
          <p:cNvPr id="14" name="Text 12"/>
          <p:cNvSpPr/>
          <p:nvPr/>
        </p:nvSpPr>
        <p:spPr>
          <a:xfrm>
            <a:off x="1803400" y="4864100"/>
            <a:ext cx="6096000" cy="711200"/>
          </a:xfrm>
          <a:prstGeom prst="rect">
            <a:avLst/>
          </a:prstGeom>
          <a:noFill/>
          <a:ln/>
        </p:spPr>
        <p:txBody>
          <a:bodyPr wrap="none" lIns="0" tIns="0" rIns="0" bIns="0" rtlCol="0" anchor="t"/>
          <a:lstStyle/>
          <a:p>
            <a:pPr>
              <a:lnSpc>
                <a:spcPct val="140000"/>
              </a:lnSpc>
            </a:pPr>
            <a:r>
              <a:rPr lang="en-US" sz="3500" dirty="0">
                <a:solidFill>
                  <a:srgbClr val="000000"/>
                </a:solidFill>
                <a:latin typeface="QuattrocentoSans" pitchFamily="34" charset="0"/>
                <a:ea typeface="QuattrocentoSans" pitchFamily="34" charset="-122"/>
                <a:cs typeface="QuattrocentoSans" pitchFamily="34" charset="-120"/>
              </a:rPr>
              <a:t>JavaFX Client</a:t>
            </a:r>
            <a:endParaRPr lang="en-US" sz="3500" dirty="0"/>
          </a:p>
        </p:txBody>
      </p:sp>
      <p:sp>
        <p:nvSpPr>
          <p:cNvPr id="15" name="Text 13"/>
          <p:cNvSpPr/>
          <p:nvPr/>
        </p:nvSpPr>
        <p:spPr>
          <a:xfrm>
            <a:off x="1803400" y="5943600"/>
            <a:ext cx="6096000" cy="2159000"/>
          </a:xfrm>
          <a:prstGeom prst="rect">
            <a:avLst/>
          </a:prstGeom>
          <a:noFill/>
          <a:ln/>
        </p:spPr>
        <p:txBody>
          <a:bodyPr wrap="square" lIns="0" tIns="0" rIns="0" bIns="0" rtlCol="0" anchor="t"/>
          <a:lstStyle/>
          <a:p>
            <a:pPr algn="just">
              <a:lnSpc>
                <a:spcPct val="156000"/>
              </a:lnSpc>
            </a:pPr>
            <a:r>
              <a:rPr lang="en-US" sz="2700" dirty="0">
                <a:solidFill>
                  <a:srgbClr val="000000"/>
                </a:solidFill>
                <a:latin typeface="Liter" pitchFamily="34" charset="0"/>
                <a:ea typeface="Liter" pitchFamily="34" charset="-122"/>
                <a:cs typeface="Liter" pitchFamily="34" charset="-120"/>
              </a:rPr>
              <a:t>Handles the user interface and request logic. Built with JavaFX for responsive and interactive desktop experience.</a:t>
            </a:r>
            <a:endParaRPr lang="en-US" sz="2700" dirty="0"/>
          </a:p>
        </p:txBody>
      </p:sp>
      <p:sp>
        <p:nvSpPr>
          <p:cNvPr id="16" name="Shape 14"/>
          <p:cNvSpPr/>
          <p:nvPr/>
        </p:nvSpPr>
        <p:spPr>
          <a:xfrm>
            <a:off x="8851900" y="4826000"/>
            <a:ext cx="6680200" cy="863600"/>
          </a:xfrm>
          <a:prstGeom prst="rect">
            <a:avLst/>
          </a:prstGeom>
          <a:solidFill>
            <a:srgbClr val="BFE4FF"/>
          </a:solidFill>
          <a:ln/>
        </p:spPr>
      </p:sp>
      <p:sp>
        <p:nvSpPr>
          <p:cNvPr id="17" name="Shape 15"/>
          <p:cNvSpPr/>
          <p:nvPr/>
        </p:nvSpPr>
        <p:spPr>
          <a:xfrm>
            <a:off x="8851900" y="4826000"/>
            <a:ext cx="190500" cy="863600"/>
          </a:xfrm>
          <a:prstGeom prst="rect">
            <a:avLst/>
          </a:prstGeom>
          <a:solidFill>
            <a:srgbClr val="48B2FF"/>
          </a:solidFill>
          <a:ln/>
        </p:spPr>
      </p:sp>
      <p:sp>
        <p:nvSpPr>
          <p:cNvPr id="18" name="Text 16"/>
          <p:cNvSpPr/>
          <p:nvPr/>
        </p:nvSpPr>
        <p:spPr>
          <a:xfrm>
            <a:off x="9283700" y="4864100"/>
            <a:ext cx="6096000" cy="711200"/>
          </a:xfrm>
          <a:prstGeom prst="rect">
            <a:avLst/>
          </a:prstGeom>
          <a:noFill/>
          <a:ln/>
        </p:spPr>
        <p:txBody>
          <a:bodyPr wrap="none" lIns="0" tIns="0" rIns="0" bIns="0" rtlCol="0" anchor="t"/>
          <a:lstStyle/>
          <a:p>
            <a:pPr>
              <a:lnSpc>
                <a:spcPct val="140000"/>
              </a:lnSpc>
            </a:pPr>
            <a:r>
              <a:rPr lang="en-US" sz="3500" dirty="0">
                <a:solidFill>
                  <a:srgbClr val="000000"/>
                </a:solidFill>
                <a:latin typeface="QuattrocentoSans" pitchFamily="34" charset="0"/>
                <a:ea typeface="QuattrocentoSans" pitchFamily="34" charset="-122"/>
                <a:cs typeface="QuattrocentoSans" pitchFamily="34" charset="-120"/>
              </a:rPr>
              <a:t>REST / JDBC Layer</a:t>
            </a:r>
            <a:endParaRPr lang="en-US" sz="3500" dirty="0"/>
          </a:p>
        </p:txBody>
      </p:sp>
      <p:sp>
        <p:nvSpPr>
          <p:cNvPr id="19" name="Text 17"/>
          <p:cNvSpPr/>
          <p:nvPr/>
        </p:nvSpPr>
        <p:spPr>
          <a:xfrm>
            <a:off x="9283700" y="5943600"/>
            <a:ext cx="6096000" cy="2159000"/>
          </a:xfrm>
          <a:prstGeom prst="rect">
            <a:avLst/>
          </a:prstGeom>
          <a:noFill/>
          <a:ln/>
        </p:spPr>
        <p:txBody>
          <a:bodyPr wrap="square" lIns="0" tIns="0" rIns="0" bIns="0" rtlCol="0" anchor="t"/>
          <a:lstStyle/>
          <a:p>
            <a:pPr algn="just">
              <a:lnSpc>
                <a:spcPct val="156000"/>
              </a:lnSpc>
            </a:pPr>
            <a:r>
              <a:rPr lang="en-US" sz="2700" dirty="0">
                <a:solidFill>
                  <a:srgbClr val="000000"/>
                </a:solidFill>
                <a:latin typeface="Liter" pitchFamily="34" charset="0"/>
                <a:ea typeface="Liter" pitchFamily="34" charset="-122"/>
                <a:cs typeface="Liter" pitchFamily="34" charset="-120"/>
              </a:rPr>
              <a:t>Bridges client and server using JDBC driver. Manages connection strings, query execution, and result handling.</a:t>
            </a:r>
            <a:endParaRPr lang="en-US" sz="2700" dirty="0"/>
          </a:p>
        </p:txBody>
      </p:sp>
      <p:sp>
        <p:nvSpPr>
          <p:cNvPr id="20" name="Shape 18"/>
          <p:cNvSpPr/>
          <p:nvPr/>
        </p:nvSpPr>
        <p:spPr>
          <a:xfrm>
            <a:off x="16332200" y="4826000"/>
            <a:ext cx="6680200" cy="863600"/>
          </a:xfrm>
          <a:prstGeom prst="rect">
            <a:avLst/>
          </a:prstGeom>
          <a:solidFill>
            <a:srgbClr val="7EC8E3"/>
          </a:solidFill>
          <a:ln/>
        </p:spPr>
      </p:sp>
      <p:sp>
        <p:nvSpPr>
          <p:cNvPr id="21" name="Shape 19"/>
          <p:cNvSpPr/>
          <p:nvPr/>
        </p:nvSpPr>
        <p:spPr>
          <a:xfrm>
            <a:off x="16332200" y="4826000"/>
            <a:ext cx="190500" cy="863600"/>
          </a:xfrm>
          <a:prstGeom prst="rect">
            <a:avLst/>
          </a:prstGeom>
          <a:solidFill>
            <a:srgbClr val="48B2FF"/>
          </a:solidFill>
          <a:ln/>
        </p:spPr>
      </p:sp>
      <p:sp>
        <p:nvSpPr>
          <p:cNvPr id="22" name="Text 20"/>
          <p:cNvSpPr/>
          <p:nvPr/>
        </p:nvSpPr>
        <p:spPr>
          <a:xfrm>
            <a:off x="16764000" y="4864100"/>
            <a:ext cx="6096000" cy="711200"/>
          </a:xfrm>
          <a:prstGeom prst="rect">
            <a:avLst/>
          </a:prstGeom>
          <a:noFill/>
          <a:ln/>
        </p:spPr>
        <p:txBody>
          <a:bodyPr wrap="none" lIns="0" tIns="0" rIns="0" bIns="0" rtlCol="0" anchor="t"/>
          <a:lstStyle/>
          <a:p>
            <a:pPr>
              <a:lnSpc>
                <a:spcPct val="140000"/>
              </a:lnSpc>
            </a:pPr>
            <a:r>
              <a:rPr lang="en-US" sz="3500" dirty="0">
                <a:solidFill>
                  <a:srgbClr val="000000"/>
                </a:solidFill>
                <a:latin typeface="QuattrocentoSans" pitchFamily="34" charset="0"/>
                <a:ea typeface="QuattrocentoSans" pitchFamily="34" charset="-122"/>
                <a:cs typeface="QuattrocentoSans" pitchFamily="34" charset="-120"/>
              </a:rPr>
              <a:t>MySQL Server</a:t>
            </a:r>
            <a:endParaRPr lang="en-US" sz="3500" dirty="0"/>
          </a:p>
        </p:txBody>
      </p:sp>
      <p:sp>
        <p:nvSpPr>
          <p:cNvPr id="23" name="Text 21"/>
          <p:cNvSpPr/>
          <p:nvPr/>
        </p:nvSpPr>
        <p:spPr>
          <a:xfrm>
            <a:off x="16764000" y="5943600"/>
            <a:ext cx="6096000" cy="2159000"/>
          </a:xfrm>
          <a:prstGeom prst="rect">
            <a:avLst/>
          </a:prstGeom>
          <a:noFill/>
          <a:ln/>
        </p:spPr>
        <p:txBody>
          <a:bodyPr wrap="square" lIns="0" tIns="0" rIns="0" bIns="0" rtlCol="0" anchor="t"/>
          <a:lstStyle/>
          <a:p>
            <a:pPr algn="just">
              <a:lnSpc>
                <a:spcPct val="156000"/>
              </a:lnSpc>
            </a:pPr>
            <a:r>
              <a:rPr lang="en-US" sz="2700" dirty="0">
                <a:solidFill>
                  <a:srgbClr val="000000"/>
                </a:solidFill>
                <a:latin typeface="Liter" pitchFamily="34" charset="0"/>
                <a:ea typeface="Liter" pitchFamily="34" charset="-122"/>
                <a:cs typeface="Liter" pitchFamily="34" charset="-120"/>
              </a:rPr>
              <a:t>Persistent storage and connection handling. Stores film data, player progress, and game state.</a:t>
            </a:r>
            <a:endParaRPr lang="en-US" sz="2700" dirty="0"/>
          </a:p>
        </p:txBody>
      </p:sp>
      <p:sp>
        <p:nvSpPr>
          <p:cNvPr id="24" name="Shape 22"/>
          <p:cNvSpPr/>
          <p:nvPr/>
        </p:nvSpPr>
        <p:spPr>
          <a:xfrm>
            <a:off x="1371600" y="8890000"/>
            <a:ext cx="21640800" cy="863600"/>
          </a:xfrm>
          <a:prstGeom prst="rect">
            <a:avLst/>
          </a:prstGeom>
          <a:solidFill>
            <a:srgbClr val="004AAD"/>
          </a:solidFill>
          <a:ln/>
        </p:spPr>
      </p:sp>
      <p:sp>
        <p:nvSpPr>
          <p:cNvPr id="25" name="Text 23"/>
          <p:cNvSpPr/>
          <p:nvPr/>
        </p:nvSpPr>
        <p:spPr>
          <a:xfrm>
            <a:off x="1803400" y="8928100"/>
            <a:ext cx="20955000" cy="711200"/>
          </a:xfrm>
          <a:prstGeom prst="rect">
            <a:avLst/>
          </a:prstGeom>
          <a:noFill/>
          <a:ln/>
        </p:spPr>
        <p:txBody>
          <a:bodyPr wrap="none" lIns="0" tIns="0" rIns="0" bIns="0" rtlCol="0" anchor="ctr"/>
          <a:lstStyle/>
          <a:p>
            <a:pPr>
              <a:lnSpc>
                <a:spcPct val="100000"/>
              </a:lnSpc>
            </a:pPr>
            <a:r>
              <a:rPr lang="en-US" sz="2800" dirty="0">
                <a:solidFill>
                  <a:srgbClr val="FFFFFF"/>
                </a:solidFill>
                <a:latin typeface="Quattrocento Sans" pitchFamily="34" charset="0"/>
                <a:ea typeface="Quattrocento Sans" pitchFamily="34" charset="-122"/>
                <a:cs typeface="Quattrocento Sans" pitchFamily="34" charset="-120"/>
              </a:rPr>
              <a:t>Data Flow: SELECT, INSERT, UPDATE, DELETE | Authentication &amp; Access Control</a:t>
            </a:r>
            <a:endParaRPr lang="en-US" sz="1600" dirty="0"/>
          </a:p>
        </p:txBody>
      </p:sp>
      <p:sp>
        <p:nvSpPr>
          <p:cNvPr id="26" name="Text 24"/>
          <p:cNvSpPr/>
          <p:nvPr/>
        </p:nvSpPr>
        <p:spPr>
          <a:xfrm>
            <a:off x="1371600" y="10160000"/>
            <a:ext cx="21640800" cy="2159000"/>
          </a:xfrm>
          <a:prstGeom prst="rect">
            <a:avLst/>
          </a:prstGeom>
          <a:noFill/>
          <a:ln/>
        </p:spPr>
        <p:txBody>
          <a:bodyPr wrap="square" lIns="0" tIns="0" rIns="0" bIns="0" rtlCol="0" anchor="t"/>
          <a:lstStyle/>
          <a:p>
            <a:pPr algn="just">
              <a:lnSpc>
                <a:spcPct val="156000"/>
              </a:lnSpc>
            </a:pPr>
            <a:r>
              <a:rPr lang="en-US" sz="2700" dirty="0">
                <a:solidFill>
                  <a:srgbClr val="000000"/>
                </a:solidFill>
                <a:latin typeface="Liter" pitchFamily="34" charset="0"/>
                <a:ea typeface="Liter" pitchFamily="34" charset="-122"/>
                <a:cs typeface="Liter" pitchFamily="34" charset="-120"/>
              </a:rPr>
              <a:t>The client-server model ensures clean separation of concerns. The JavaFX client handles all presentation logic while MySQL manages data persistence. All database operations flow through the JDBC layer with proper credential-based access control.</a:t>
            </a:r>
            <a:endParaRPr lang="en-US" sz="2700" dirty="0"/>
          </a:p>
        </p:txBody>
      </p:sp>
    </p:spTree>
  </p:cSld>
  <p:clrMapOvr>
    <a:masterClrMapping/>
  </p:clrMapOvr>
  <p:transition>
    <p:fade/>
    <p:spd val="med"/>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gradFill rotWithShape="1" flip="none">
          <a:gsLst>
            <a:gs pos="0">
              <a:srgbClr val="C7E2FF"/>
            </a:gs>
            <a:gs pos="50000">
              <a:srgbClr val="EAF4FF"/>
            </a:gs>
            <a:gs pos="100000">
              <a:srgbClr val="FFFFFF"/>
            </a:gs>
          </a:gsLst>
          <a:lin ang="2700000" scaled="1"/>
        </a:gradFill>
      </p:bgPr>
    </p:bg>
    <p:spTree>
      <p:nvGrpSpPr>
        <p:cNvPr id="1" name=""/>
        <p:cNvGrpSpPr/>
        <p:nvPr/>
      </p:nvGrpSpPr>
      <p:grpSpPr>
        <a:xfrm>
          <a:off x="0" y="0"/>
          <a:ext cx="0" cy="0"/>
          <a:chOff x="0" y="0"/>
          <a:chExt cx="0" cy="0"/>
        </a:xfrm>
      </p:grpSpPr>
      <p:sp>
        <p:nvSpPr>
          <p:cNvPr id="2" name="Text 0"/>
          <p:cNvSpPr/>
          <p:nvPr/>
        </p:nvSpPr>
        <p:spPr>
          <a:xfrm>
            <a:off x="1244600" y="1282700"/>
            <a:ext cx="10363200" cy="2247900"/>
          </a:xfrm>
          <a:prstGeom prst="rect">
            <a:avLst/>
          </a:prstGeom>
          <a:noFill/>
          <a:ln/>
        </p:spPr>
        <p:txBody>
          <a:bodyPr wrap="square" lIns="0" tIns="0" rIns="0" bIns="0" rtlCol="0" anchor="t"/>
          <a:lstStyle/>
          <a:p>
            <a:pPr>
              <a:lnSpc>
                <a:spcPct val="124000"/>
              </a:lnSpc>
            </a:pPr>
            <a:r>
              <a:rPr lang="en-US" sz="6800" dirty="0">
                <a:solidFill>
                  <a:srgbClr val="000000"/>
                </a:solidFill>
                <a:latin typeface="QuattrocentoSans" pitchFamily="34" charset="0"/>
                <a:ea typeface="QuattrocentoSans" pitchFamily="34" charset="-122"/>
                <a:cs typeface="QuattrocentoSans" pitchFamily="34" charset="-120"/>
              </a:rPr>
              <a:t>PROJECT STRUCTURE</a:t>
            </a:r>
            <a:endParaRPr lang="en-US" sz="6800" dirty="0"/>
          </a:p>
        </p:txBody>
      </p:sp>
      <p:sp>
        <p:nvSpPr>
          <p:cNvPr id="3" name="Shape 1"/>
          <p:cNvSpPr/>
          <p:nvPr/>
        </p:nvSpPr>
        <p:spPr>
          <a:xfrm>
            <a:off x="11264900" y="1574800"/>
            <a:ext cx="9779000" cy="0"/>
          </a:xfrm>
          <a:prstGeom prst="straightConnector1">
            <a:avLst/>
          </a:prstGeom>
          <a:noFill/>
          <a:ln w="9525">
            <a:solidFill>
              <a:srgbClr val="000000"/>
            </a:solidFill>
            <a:prstDash val="solid"/>
            <a:headEnd type="none"/>
            <a:tailEnd type="none"/>
          </a:ln>
        </p:spPr>
      </p:sp>
      <p:sp>
        <p:nvSpPr>
          <p:cNvPr id="4" name="Text 2"/>
          <p:cNvSpPr/>
          <p:nvPr/>
        </p:nvSpPr>
        <p:spPr>
          <a:xfrm>
            <a:off x="8242300" y="2565400"/>
            <a:ext cx="5842000" cy="825500"/>
          </a:xfrm>
          <a:prstGeom prst="rect">
            <a:avLst/>
          </a:prstGeom>
          <a:noFill/>
          <a:ln/>
        </p:spPr>
        <p:txBody>
          <a:bodyPr wrap="none" lIns="0" tIns="0" rIns="0" bIns="0" rtlCol="0" anchor="t"/>
          <a:lstStyle/>
          <a:p>
            <a:pPr>
              <a:lnSpc>
                <a:spcPct val="140000"/>
              </a:lnSpc>
            </a:pPr>
            <a:r>
              <a:rPr lang="en-US" sz="4100" dirty="0">
                <a:solidFill>
                  <a:srgbClr val="000000"/>
                </a:solidFill>
                <a:latin typeface="QuattrocentoSans" pitchFamily="34" charset="0"/>
                <a:ea typeface="QuattrocentoSans" pitchFamily="34" charset="-122"/>
                <a:cs typeface="QuattrocentoSans" pitchFamily="34" charset="-120"/>
              </a:rPr>
              <a:t>Code Organization</a:t>
            </a:r>
            <a:endParaRPr lang="en-US" sz="4100" dirty="0"/>
          </a:p>
        </p:txBody>
      </p:sp>
      <p:sp>
        <p:nvSpPr>
          <p:cNvPr id="5" name="Text 3"/>
          <p:cNvSpPr/>
          <p:nvPr/>
        </p:nvSpPr>
        <p:spPr>
          <a:xfrm>
            <a:off x="18161000" y="1244600"/>
            <a:ext cx="5207000" cy="635000"/>
          </a:xfrm>
          <a:prstGeom prst="rect">
            <a:avLst/>
          </a:prstGeom>
          <a:noFill/>
          <a:ln/>
        </p:spPr>
        <p:txBody>
          <a:bodyPr wrap="none" lIns="0" tIns="0" rIns="0" bIns="0" rtlCol="0" anchor="t"/>
          <a:lstStyle/>
          <a:p>
            <a:pPr algn="r">
              <a:lnSpc>
                <a:spcPct val="140000"/>
              </a:lnSpc>
            </a:pPr>
            <a:r>
              <a:rPr lang="en-US" sz="2900" spc="400" kern="0" dirty="0">
                <a:solidFill>
                  <a:srgbClr val="000000"/>
                </a:solidFill>
                <a:latin typeface="Liter" pitchFamily="34" charset="0"/>
                <a:ea typeface="Liter" pitchFamily="34" charset="-122"/>
                <a:cs typeface="Liter" pitchFamily="34" charset="-120"/>
              </a:rPr>
              <a:t>PART 02</a:t>
            </a:r>
            <a:endParaRPr lang="en-US" sz="2900" dirty="0"/>
          </a:p>
        </p:txBody>
      </p:sp>
      <p:sp>
        <p:nvSpPr>
          <p:cNvPr id="6" name="Shape 4"/>
          <p:cNvSpPr/>
          <p:nvPr/>
        </p:nvSpPr>
        <p:spPr>
          <a:xfrm rot="5400000">
            <a:off x="1346200" y="3835400"/>
            <a:ext cx="368300" cy="330200"/>
          </a:xfrm>
          <a:prstGeom prst="triangle">
            <a:avLst>
              <a:gd name="adj" fmla="val 50000"/>
            </a:avLst>
          </a:prstGeom>
          <a:solidFill>
            <a:srgbClr val="004AAD"/>
          </a:solidFill>
          <a:ln/>
        </p:spPr>
      </p:sp>
      <p:sp>
        <p:nvSpPr>
          <p:cNvPr id="7" name="Shape 5"/>
          <p:cNvSpPr/>
          <p:nvPr/>
        </p:nvSpPr>
        <p:spPr>
          <a:xfrm rot="5400000">
            <a:off x="1854200" y="3835400"/>
            <a:ext cx="368300" cy="330200"/>
          </a:xfrm>
          <a:prstGeom prst="triangle">
            <a:avLst>
              <a:gd name="adj" fmla="val 50000"/>
            </a:avLst>
          </a:prstGeom>
          <a:solidFill>
            <a:srgbClr val="004AAD"/>
          </a:solidFill>
          <a:ln/>
        </p:spPr>
      </p:sp>
      <p:sp>
        <p:nvSpPr>
          <p:cNvPr id="8" name="Shape 6"/>
          <p:cNvSpPr/>
          <p:nvPr/>
        </p:nvSpPr>
        <p:spPr>
          <a:xfrm rot="5400000">
            <a:off x="2349500" y="3835400"/>
            <a:ext cx="368300" cy="330200"/>
          </a:xfrm>
          <a:prstGeom prst="triangle">
            <a:avLst>
              <a:gd name="adj" fmla="val 50000"/>
            </a:avLst>
          </a:prstGeom>
          <a:solidFill>
            <a:srgbClr val="004AAD"/>
          </a:solidFill>
          <a:ln/>
        </p:spPr>
      </p:sp>
      <p:sp>
        <p:nvSpPr>
          <p:cNvPr id="9" name="Shape 7"/>
          <p:cNvSpPr/>
          <p:nvPr/>
        </p:nvSpPr>
        <p:spPr>
          <a:xfrm rot="5400000">
            <a:off x="2857500" y="3835400"/>
            <a:ext cx="368300" cy="330200"/>
          </a:xfrm>
          <a:prstGeom prst="triangle">
            <a:avLst>
              <a:gd name="adj" fmla="val 50000"/>
            </a:avLst>
          </a:prstGeom>
          <a:solidFill>
            <a:srgbClr val="004AAD"/>
          </a:solidFill>
          <a:ln/>
        </p:spPr>
      </p:sp>
      <p:sp>
        <p:nvSpPr>
          <p:cNvPr id="10" name="Shape 8"/>
          <p:cNvSpPr/>
          <p:nvPr/>
        </p:nvSpPr>
        <p:spPr>
          <a:xfrm rot="5400000">
            <a:off x="3352800" y="3835400"/>
            <a:ext cx="368300" cy="330200"/>
          </a:xfrm>
          <a:prstGeom prst="triangle">
            <a:avLst>
              <a:gd name="adj" fmla="val 50000"/>
            </a:avLst>
          </a:prstGeom>
          <a:solidFill>
            <a:srgbClr val="004AAD"/>
          </a:solidFill>
          <a:ln/>
        </p:spPr>
      </p:sp>
      <p:sp>
        <p:nvSpPr>
          <p:cNvPr id="11" name="Shape 9"/>
          <p:cNvSpPr/>
          <p:nvPr/>
        </p:nvSpPr>
        <p:spPr>
          <a:xfrm rot="5400000">
            <a:off x="3860800" y="3835400"/>
            <a:ext cx="368300" cy="330200"/>
          </a:xfrm>
          <a:prstGeom prst="triangle">
            <a:avLst>
              <a:gd name="adj" fmla="val 50000"/>
            </a:avLst>
          </a:prstGeom>
          <a:solidFill>
            <a:srgbClr val="004AAD"/>
          </a:solidFill>
          <a:ln/>
        </p:spPr>
      </p:sp>
      <p:sp>
        <p:nvSpPr>
          <p:cNvPr id="12" name="Shape 10"/>
          <p:cNvSpPr/>
          <p:nvPr/>
        </p:nvSpPr>
        <p:spPr>
          <a:xfrm>
            <a:off x="1371600" y="4826000"/>
            <a:ext cx="4787900" cy="863600"/>
          </a:xfrm>
          <a:prstGeom prst="rect">
            <a:avLst/>
          </a:prstGeom>
          <a:solidFill>
            <a:srgbClr val="7EC8E3"/>
          </a:solidFill>
          <a:ln/>
        </p:spPr>
      </p:sp>
      <p:sp>
        <p:nvSpPr>
          <p:cNvPr id="13" name="Shape 11"/>
          <p:cNvSpPr/>
          <p:nvPr/>
        </p:nvSpPr>
        <p:spPr>
          <a:xfrm>
            <a:off x="1371600" y="4826000"/>
            <a:ext cx="190500" cy="863600"/>
          </a:xfrm>
          <a:prstGeom prst="rect">
            <a:avLst/>
          </a:prstGeom>
          <a:solidFill>
            <a:srgbClr val="48B2FF"/>
          </a:solidFill>
          <a:ln/>
        </p:spPr>
      </p:sp>
      <p:sp>
        <p:nvSpPr>
          <p:cNvPr id="14" name="Text 12"/>
          <p:cNvSpPr/>
          <p:nvPr/>
        </p:nvSpPr>
        <p:spPr>
          <a:xfrm>
            <a:off x="1803400" y="4864100"/>
            <a:ext cx="4191000" cy="711200"/>
          </a:xfrm>
          <a:prstGeom prst="rect">
            <a:avLst/>
          </a:prstGeom>
          <a:noFill/>
          <a:ln/>
        </p:spPr>
        <p:txBody>
          <a:bodyPr wrap="none" lIns="0" tIns="0" rIns="0" bIns="0" rtlCol="0" anchor="t"/>
          <a:lstStyle/>
          <a:p>
            <a:pPr>
              <a:lnSpc>
                <a:spcPct val="140000"/>
              </a:lnSpc>
            </a:pPr>
            <a:r>
              <a:rPr lang="en-US" sz="3500" dirty="0">
                <a:solidFill>
                  <a:srgbClr val="000000"/>
                </a:solidFill>
                <a:latin typeface="QuattrocentoSans" pitchFamily="34" charset="0"/>
                <a:ea typeface="QuattrocentoSans" pitchFamily="34" charset="-122"/>
                <a:cs typeface="QuattrocentoSans" pitchFamily="34" charset="-120"/>
              </a:rPr>
              <a:t>Package Structure</a:t>
            </a:r>
            <a:endParaRPr lang="en-US" sz="3500" dirty="0"/>
          </a:p>
        </p:txBody>
      </p:sp>
      <p:sp>
        <p:nvSpPr>
          <p:cNvPr id="15" name="Text 13"/>
          <p:cNvSpPr/>
          <p:nvPr/>
        </p:nvSpPr>
        <p:spPr>
          <a:xfrm>
            <a:off x="1371600" y="6096000"/>
            <a:ext cx="889000" cy="711200"/>
          </a:xfrm>
          <a:prstGeom prst="rect">
            <a:avLst/>
          </a:prstGeom>
          <a:noFill/>
          <a:ln/>
        </p:spPr>
        <p:txBody>
          <a:bodyPr wrap="none" lIns="0" tIns="0" rIns="0" bIns="0" rtlCol="0" anchor="t"/>
          <a:lstStyle/>
          <a:p>
            <a:pPr algn="ctr">
              <a:lnSpc>
                <a:spcPct val="100000"/>
              </a:lnSpc>
            </a:pPr>
            <a:r>
              <a:rPr lang="en-US" sz="3500" dirty="0">
                <a:solidFill>
                  <a:srgbClr val="004AAD"/>
                </a:solidFill>
                <a:latin typeface="Quattrocento Sans" pitchFamily="34" charset="0"/>
                <a:ea typeface="Quattrocento Sans" pitchFamily="34" charset="-122"/>
                <a:cs typeface="Quattrocento Sans" pitchFamily="34" charset="-120"/>
              </a:rPr>
              <a:t>01</a:t>
            </a:r>
            <a:endParaRPr lang="en-US" sz="1600" dirty="0"/>
          </a:p>
        </p:txBody>
      </p:sp>
      <p:sp>
        <p:nvSpPr>
          <p:cNvPr id="16" name="Shape 14"/>
          <p:cNvSpPr/>
          <p:nvPr/>
        </p:nvSpPr>
        <p:spPr>
          <a:xfrm>
            <a:off x="2349500" y="6451600"/>
            <a:ext cx="508000" cy="0"/>
          </a:xfrm>
          <a:prstGeom prst="straightConnector1">
            <a:avLst/>
          </a:prstGeom>
          <a:noFill/>
          <a:ln w="38100">
            <a:solidFill>
              <a:srgbClr val="48B2FF"/>
            </a:solidFill>
            <a:prstDash val="solid"/>
            <a:headEnd type="none"/>
            <a:tailEnd type="none"/>
          </a:ln>
        </p:spPr>
      </p:sp>
      <p:sp>
        <p:nvSpPr>
          <p:cNvPr id="17" name="Text 15"/>
          <p:cNvSpPr/>
          <p:nvPr/>
        </p:nvSpPr>
        <p:spPr>
          <a:xfrm>
            <a:off x="2921000" y="6096000"/>
            <a:ext cx="3810000" cy="711200"/>
          </a:xfrm>
          <a:prstGeom prst="rect">
            <a:avLst/>
          </a:prstGeom>
          <a:noFill/>
          <a:ln/>
        </p:spPr>
        <p:txBody>
          <a:bodyPr wrap="none" lIns="0" tIns="0" rIns="0" bIns="0" rtlCol="0" anchor="t"/>
          <a:lstStyle/>
          <a:p>
            <a:pPr>
              <a:lnSpc>
                <a:spcPct val="100000"/>
              </a:lnSpc>
            </a:pPr>
            <a:r>
              <a:rPr lang="en-US" sz="3000" dirty="0">
                <a:solidFill>
                  <a:srgbClr val="000000"/>
                </a:solidFill>
                <a:latin typeface="Quattrocento Sans" pitchFamily="34" charset="0"/>
                <a:ea typeface="Quattrocento Sans" pitchFamily="34" charset="-122"/>
                <a:cs typeface="Quattrocento Sans" pitchFamily="34" charset="-120"/>
              </a:rPr>
              <a:t>FilmGame Package</a:t>
            </a:r>
            <a:endParaRPr lang="en-US" sz="1600" dirty="0"/>
          </a:p>
        </p:txBody>
      </p:sp>
      <p:sp>
        <p:nvSpPr>
          <p:cNvPr id="18" name="Text 16"/>
          <p:cNvSpPr/>
          <p:nvPr/>
        </p:nvSpPr>
        <p:spPr>
          <a:xfrm>
            <a:off x="2984500" y="6807200"/>
            <a:ext cx="19748500" cy="1397000"/>
          </a:xfrm>
          <a:prstGeom prst="rect">
            <a:avLst/>
          </a:prstGeom>
          <a:noFill/>
          <a:ln/>
        </p:spPr>
        <p:txBody>
          <a:bodyPr wrap="square" lIns="0" tIns="0" rIns="0" bIns="0" rtlCol="0" anchor="t"/>
          <a:lstStyle/>
          <a:p>
            <a:pPr algn="just">
              <a:lnSpc>
                <a:spcPct val="156000"/>
              </a:lnSpc>
            </a:pPr>
            <a:r>
              <a:rPr lang="en-US" sz="2700" dirty="0">
                <a:solidFill>
                  <a:srgbClr val="000000"/>
                </a:solidFill>
                <a:latin typeface="Liter" pitchFamily="34" charset="0"/>
                <a:ea typeface="Liter" pitchFamily="34" charset="-122"/>
                <a:cs typeface="Liter" pitchFamily="34" charset="-120"/>
              </a:rPr>
              <a:t>Contains the core JavaFX UI components and primary game logic. Includes Main.java, MainFrame.java, LevelsFrame.java, PlayFrame.java, and MusicAndSound.java.</a:t>
            </a:r>
            <a:endParaRPr lang="en-US" sz="2700" dirty="0"/>
          </a:p>
        </p:txBody>
      </p:sp>
      <p:sp>
        <p:nvSpPr>
          <p:cNvPr id="19" name="Text 17"/>
          <p:cNvSpPr/>
          <p:nvPr/>
        </p:nvSpPr>
        <p:spPr>
          <a:xfrm>
            <a:off x="1371600" y="8382000"/>
            <a:ext cx="889000" cy="711200"/>
          </a:xfrm>
          <a:prstGeom prst="rect">
            <a:avLst/>
          </a:prstGeom>
          <a:noFill/>
          <a:ln/>
        </p:spPr>
        <p:txBody>
          <a:bodyPr wrap="none" lIns="0" tIns="0" rIns="0" bIns="0" rtlCol="0" anchor="t"/>
          <a:lstStyle/>
          <a:p>
            <a:pPr algn="ctr">
              <a:lnSpc>
                <a:spcPct val="100000"/>
              </a:lnSpc>
            </a:pPr>
            <a:r>
              <a:rPr lang="en-US" sz="3500" dirty="0">
                <a:solidFill>
                  <a:srgbClr val="004AAD"/>
                </a:solidFill>
                <a:latin typeface="Quattrocento Sans" pitchFamily="34" charset="0"/>
                <a:ea typeface="Quattrocento Sans" pitchFamily="34" charset="-122"/>
                <a:cs typeface="Quattrocento Sans" pitchFamily="34" charset="-120"/>
              </a:rPr>
              <a:t>02</a:t>
            </a:r>
            <a:endParaRPr lang="en-US" sz="1600" dirty="0"/>
          </a:p>
        </p:txBody>
      </p:sp>
      <p:sp>
        <p:nvSpPr>
          <p:cNvPr id="20" name="Shape 18"/>
          <p:cNvSpPr/>
          <p:nvPr/>
        </p:nvSpPr>
        <p:spPr>
          <a:xfrm>
            <a:off x="2349500" y="8737600"/>
            <a:ext cx="508000" cy="0"/>
          </a:xfrm>
          <a:prstGeom prst="straightConnector1">
            <a:avLst/>
          </a:prstGeom>
          <a:noFill/>
          <a:ln w="38100">
            <a:solidFill>
              <a:srgbClr val="48B2FF"/>
            </a:solidFill>
            <a:prstDash val="solid"/>
            <a:headEnd type="none"/>
            <a:tailEnd type="none"/>
          </a:ln>
        </p:spPr>
      </p:sp>
      <p:sp>
        <p:nvSpPr>
          <p:cNvPr id="21" name="Text 19"/>
          <p:cNvSpPr/>
          <p:nvPr/>
        </p:nvSpPr>
        <p:spPr>
          <a:xfrm>
            <a:off x="2984500" y="8382000"/>
            <a:ext cx="3810000" cy="711200"/>
          </a:xfrm>
          <a:prstGeom prst="rect">
            <a:avLst/>
          </a:prstGeom>
          <a:noFill/>
          <a:ln/>
        </p:spPr>
        <p:txBody>
          <a:bodyPr wrap="none" lIns="0" tIns="0" rIns="0" bIns="0" rtlCol="0" anchor="t"/>
          <a:lstStyle/>
          <a:p>
            <a:pPr>
              <a:lnSpc>
                <a:spcPct val="100000"/>
              </a:lnSpc>
            </a:pPr>
            <a:r>
              <a:rPr lang="en-US" sz="3000" dirty="0">
                <a:solidFill>
                  <a:srgbClr val="000000"/>
                </a:solidFill>
                <a:latin typeface="Quattrocento Sans" pitchFamily="34" charset="0"/>
                <a:ea typeface="Quattrocento Sans" pitchFamily="34" charset="-122"/>
                <a:cs typeface="Quattrocento Sans" pitchFamily="34" charset="-120"/>
              </a:rPr>
              <a:t>database Package</a:t>
            </a:r>
            <a:endParaRPr lang="en-US" sz="1600" dirty="0"/>
          </a:p>
        </p:txBody>
      </p:sp>
      <p:sp>
        <p:nvSpPr>
          <p:cNvPr id="22" name="Text 20"/>
          <p:cNvSpPr/>
          <p:nvPr/>
        </p:nvSpPr>
        <p:spPr>
          <a:xfrm>
            <a:off x="2984500" y="9093200"/>
            <a:ext cx="19748500" cy="1397000"/>
          </a:xfrm>
          <a:prstGeom prst="rect">
            <a:avLst/>
          </a:prstGeom>
          <a:noFill/>
          <a:ln/>
        </p:spPr>
        <p:txBody>
          <a:bodyPr wrap="square" lIns="0" tIns="0" rIns="0" bIns="0" rtlCol="0" anchor="t"/>
          <a:lstStyle/>
          <a:p>
            <a:pPr algn="just">
              <a:lnSpc>
                <a:spcPct val="156000"/>
              </a:lnSpc>
            </a:pPr>
            <a:r>
              <a:rPr lang="en-US" sz="2700" dirty="0">
                <a:solidFill>
                  <a:srgbClr val="000000"/>
                </a:solidFill>
                <a:latin typeface="Liter" pitchFamily="34" charset="0"/>
                <a:ea typeface="Liter" pitchFamily="34" charset="-122"/>
                <a:cs typeface="Liter" pitchFamily="34" charset="-120"/>
              </a:rPr>
              <a:t>Dedicated package for all MySQL database interaction methods and connection management. Includes DataBaseConnection.java for JDBC connectivity.</a:t>
            </a:r>
            <a:endParaRPr lang="en-US" sz="2700" dirty="0"/>
          </a:p>
        </p:txBody>
      </p:sp>
      <p:sp>
        <p:nvSpPr>
          <p:cNvPr id="23" name="Text 21"/>
          <p:cNvSpPr/>
          <p:nvPr/>
        </p:nvSpPr>
        <p:spPr>
          <a:xfrm>
            <a:off x="1371600" y="10668000"/>
            <a:ext cx="889000" cy="711200"/>
          </a:xfrm>
          <a:prstGeom prst="rect">
            <a:avLst/>
          </a:prstGeom>
          <a:noFill/>
          <a:ln/>
        </p:spPr>
        <p:txBody>
          <a:bodyPr wrap="none" lIns="0" tIns="0" rIns="0" bIns="0" rtlCol="0" anchor="t"/>
          <a:lstStyle/>
          <a:p>
            <a:pPr algn="ctr">
              <a:lnSpc>
                <a:spcPct val="100000"/>
              </a:lnSpc>
            </a:pPr>
            <a:r>
              <a:rPr lang="en-US" sz="3500" dirty="0">
                <a:solidFill>
                  <a:srgbClr val="004AAD"/>
                </a:solidFill>
                <a:latin typeface="Quattrocento Sans" pitchFamily="34" charset="0"/>
                <a:ea typeface="Quattrocento Sans" pitchFamily="34" charset="-122"/>
                <a:cs typeface="Quattrocento Sans" pitchFamily="34" charset="-120"/>
              </a:rPr>
              <a:t>03</a:t>
            </a:r>
            <a:endParaRPr lang="en-US" sz="1600" dirty="0"/>
          </a:p>
        </p:txBody>
      </p:sp>
      <p:sp>
        <p:nvSpPr>
          <p:cNvPr id="24" name="Shape 22"/>
          <p:cNvSpPr/>
          <p:nvPr/>
        </p:nvSpPr>
        <p:spPr>
          <a:xfrm>
            <a:off x="2349500" y="11023600"/>
            <a:ext cx="508000" cy="0"/>
          </a:xfrm>
          <a:prstGeom prst="straightConnector1">
            <a:avLst/>
          </a:prstGeom>
          <a:noFill/>
          <a:ln w="38100">
            <a:solidFill>
              <a:srgbClr val="48B2FF"/>
            </a:solidFill>
            <a:prstDash val="solid"/>
            <a:headEnd type="none"/>
            <a:tailEnd type="none"/>
          </a:ln>
        </p:spPr>
      </p:sp>
      <p:sp>
        <p:nvSpPr>
          <p:cNvPr id="25" name="Text 23"/>
          <p:cNvSpPr/>
          <p:nvPr/>
        </p:nvSpPr>
        <p:spPr>
          <a:xfrm>
            <a:off x="2984500" y="10668000"/>
            <a:ext cx="3810000" cy="711200"/>
          </a:xfrm>
          <a:prstGeom prst="rect">
            <a:avLst/>
          </a:prstGeom>
          <a:noFill/>
          <a:ln/>
        </p:spPr>
        <p:txBody>
          <a:bodyPr wrap="none" lIns="0" tIns="0" rIns="0" bIns="0" rtlCol="0" anchor="t"/>
          <a:lstStyle/>
          <a:p>
            <a:pPr>
              <a:lnSpc>
                <a:spcPct val="100000"/>
              </a:lnSpc>
            </a:pPr>
            <a:r>
              <a:rPr lang="en-US" sz="3000" dirty="0">
                <a:solidFill>
                  <a:srgbClr val="000000"/>
                </a:solidFill>
                <a:latin typeface="Quattrocento Sans" pitchFamily="34" charset="0"/>
                <a:ea typeface="Quattrocento Sans" pitchFamily="34" charset="-122"/>
                <a:cs typeface="Quattrocento Sans" pitchFamily="34" charset="-120"/>
              </a:rPr>
              <a:t>Resources</a:t>
            </a:r>
            <a:endParaRPr lang="en-US" sz="1600" dirty="0"/>
          </a:p>
        </p:txBody>
      </p:sp>
      <p:sp>
        <p:nvSpPr>
          <p:cNvPr id="26" name="Text 24"/>
          <p:cNvSpPr/>
          <p:nvPr/>
        </p:nvSpPr>
        <p:spPr>
          <a:xfrm>
            <a:off x="2984500" y="11379200"/>
            <a:ext cx="19748500" cy="1397000"/>
          </a:xfrm>
          <a:prstGeom prst="rect">
            <a:avLst/>
          </a:prstGeom>
          <a:noFill/>
          <a:ln/>
        </p:spPr>
        <p:txBody>
          <a:bodyPr wrap="square" lIns="0" tIns="0" rIns="0" bIns="0" rtlCol="0" anchor="t"/>
          <a:lstStyle/>
          <a:p>
            <a:pPr algn="just">
              <a:lnSpc>
                <a:spcPct val="156000"/>
              </a:lnSpc>
            </a:pPr>
            <a:r>
              <a:rPr lang="en-US" sz="2700" dirty="0">
                <a:solidFill>
                  <a:srgbClr val="000000"/>
                </a:solidFill>
                <a:latin typeface="Liter" pitchFamily="34" charset="0"/>
                <a:ea typeface="Liter" pitchFamily="34" charset="-122"/>
                <a:cs typeface="Liter" pitchFamily="34" charset="-120"/>
              </a:rPr>
              <a:t>The images folder stores graphical assets for the UI, while the sound folder contains audio files for background music and in-game sound effects.</a:t>
            </a:r>
            <a:endParaRPr lang="en-US" sz="2700" dirty="0"/>
          </a:p>
        </p:txBody>
      </p:sp>
    </p:spTree>
  </p:cSld>
  <p:clrMapOvr>
    <a:masterClrMapping/>
  </p:clrMapOvr>
  <p:transition>
    <p:fade/>
    <p:spd val="med"/>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gradFill rotWithShape="1" flip="none">
          <a:gsLst>
            <a:gs pos="0">
              <a:srgbClr val="FFFFFF"/>
            </a:gs>
            <a:gs pos="50000">
              <a:srgbClr val="EAF4FF"/>
            </a:gs>
            <a:gs pos="100000">
              <a:srgbClr val="C7E2FF"/>
            </a:gs>
          </a:gsLst>
          <a:path path="circle"/>
        </a:gradFill>
      </p:bgPr>
    </p:bg>
    <p:spTree>
      <p:nvGrpSpPr>
        <p:cNvPr id="1" name=""/>
        <p:cNvGrpSpPr/>
        <p:nvPr/>
      </p:nvGrpSpPr>
      <p:grpSpPr>
        <a:xfrm>
          <a:off x="0" y="0"/>
          <a:ext cx="0" cy="0"/>
          <a:chOff x="0" y="0"/>
          <a:chExt cx="0" cy="0"/>
        </a:xfrm>
      </p:grpSpPr>
      <p:sp>
        <p:nvSpPr>
          <p:cNvPr id="2" name="Text 0"/>
          <p:cNvSpPr/>
          <p:nvPr/>
        </p:nvSpPr>
        <p:spPr>
          <a:xfrm>
            <a:off x="9232900" y="2819400"/>
            <a:ext cx="5918200" cy="4432300"/>
          </a:xfrm>
          <a:prstGeom prst="rect">
            <a:avLst/>
          </a:prstGeom>
          <a:noFill/>
          <a:ln/>
        </p:spPr>
        <p:txBody>
          <a:bodyPr wrap="none" lIns="0" tIns="0" rIns="0" bIns="0" rtlCol="0" anchor="t"/>
          <a:lstStyle/>
          <a:p>
            <a:pPr algn="ctr">
              <a:lnSpc>
                <a:spcPct val="140000"/>
              </a:lnSpc>
            </a:pPr>
            <a:r>
              <a:rPr lang="en-US" sz="24500" dirty="0">
                <a:solidFill>
                  <a:srgbClr val="004AAD"/>
                </a:solidFill>
                <a:latin typeface="QuattrocentoSans" pitchFamily="34" charset="0"/>
                <a:ea typeface="QuattrocentoSans" pitchFamily="34" charset="-122"/>
                <a:cs typeface="QuattrocentoSans" pitchFamily="34" charset="-120"/>
              </a:rPr>
              <a:t>03</a:t>
            </a:r>
            <a:endParaRPr lang="en-US" sz="24500" dirty="0"/>
          </a:p>
        </p:txBody>
      </p:sp>
      <p:sp>
        <p:nvSpPr>
          <p:cNvPr id="3" name="Shape 1"/>
          <p:cNvSpPr/>
          <p:nvPr/>
        </p:nvSpPr>
        <p:spPr>
          <a:xfrm>
            <a:off x="8382000" y="8458200"/>
            <a:ext cx="7607300" cy="0"/>
          </a:xfrm>
          <a:prstGeom prst="straightConnector1">
            <a:avLst/>
          </a:prstGeom>
          <a:noFill/>
          <a:ln w="28575">
            <a:solidFill>
              <a:srgbClr val="004AAD"/>
            </a:solidFill>
            <a:prstDash val="solid"/>
            <a:headEnd type="none"/>
            <a:tailEnd type="none"/>
          </a:ln>
        </p:spPr>
      </p:sp>
      <p:sp>
        <p:nvSpPr>
          <p:cNvPr id="4" name="Text 2"/>
          <p:cNvSpPr/>
          <p:nvPr/>
        </p:nvSpPr>
        <p:spPr>
          <a:xfrm>
            <a:off x="6565900" y="6616700"/>
            <a:ext cx="11239500" cy="1587500"/>
          </a:xfrm>
          <a:prstGeom prst="rect">
            <a:avLst/>
          </a:prstGeom>
          <a:noFill/>
          <a:ln/>
        </p:spPr>
        <p:txBody>
          <a:bodyPr wrap="none" lIns="0" tIns="0" rIns="0" bIns="0" rtlCol="0" anchor="t"/>
          <a:lstStyle/>
          <a:p>
            <a:pPr algn="ctr">
              <a:lnSpc>
                <a:spcPct val="140000"/>
              </a:lnSpc>
            </a:pPr>
            <a:r>
              <a:rPr lang="en-US" sz="8500" dirty="0">
                <a:solidFill>
                  <a:srgbClr val="000000"/>
                </a:solidFill>
                <a:latin typeface="QuattrocentoSans" pitchFamily="34" charset="0"/>
                <a:ea typeface="QuattrocentoSans" pitchFamily="34" charset="-122"/>
                <a:cs typeface="QuattrocentoSans" pitchFamily="34" charset="-120"/>
              </a:rPr>
              <a:t>Implementation</a:t>
            </a:r>
            <a:endParaRPr lang="en-US" sz="8500" dirty="0"/>
          </a:p>
        </p:txBody>
      </p:sp>
      <p:sp>
        <p:nvSpPr>
          <p:cNvPr id="5" name="Text 3"/>
          <p:cNvSpPr/>
          <p:nvPr/>
        </p:nvSpPr>
        <p:spPr>
          <a:xfrm>
            <a:off x="6997700" y="8763000"/>
            <a:ext cx="10401300" cy="1397000"/>
          </a:xfrm>
          <a:prstGeom prst="rect">
            <a:avLst/>
          </a:prstGeom>
          <a:noFill/>
          <a:ln/>
        </p:spPr>
        <p:txBody>
          <a:bodyPr wrap="square" lIns="0" tIns="0" rIns="0" bIns="0" rtlCol="0" anchor="t"/>
          <a:lstStyle/>
          <a:p>
            <a:pPr algn="ctr">
              <a:lnSpc>
                <a:spcPct val="100000"/>
              </a:lnSpc>
            </a:pPr>
            <a:r>
              <a:rPr lang="en-US" sz="4000" dirty="0">
                <a:solidFill>
                  <a:srgbClr val="737373"/>
                </a:solidFill>
                <a:latin typeface="Quattrocento Sans" pitchFamily="34" charset="0"/>
                <a:ea typeface="Quattrocento Sans" pitchFamily="34" charset="-122"/>
                <a:cs typeface="Quattrocento Sans" pitchFamily="34" charset="-120"/>
              </a:rPr>
              <a:t>Technology stack and core components</a:t>
            </a:r>
            <a:endParaRPr lang="en-US" sz="1600" dirty="0"/>
          </a:p>
        </p:txBody>
      </p:sp>
      <p:sp>
        <p:nvSpPr>
          <p:cNvPr id="6" name="Text 4"/>
          <p:cNvSpPr/>
          <p:nvPr/>
        </p:nvSpPr>
        <p:spPr>
          <a:xfrm>
            <a:off x="1016000" y="800100"/>
            <a:ext cx="11036300" cy="635000"/>
          </a:xfrm>
          <a:prstGeom prst="rect">
            <a:avLst/>
          </a:prstGeom>
          <a:noFill/>
          <a:ln/>
        </p:spPr>
        <p:txBody>
          <a:bodyPr wrap="none" lIns="0" tIns="0" rIns="0" bIns="0" rtlCol="0" anchor="t"/>
          <a:lstStyle/>
          <a:p>
            <a:pPr algn="just">
              <a:lnSpc>
                <a:spcPct val="140000"/>
              </a:lnSpc>
            </a:pPr>
            <a:r>
              <a:rPr lang="en-US" sz="2900" spc="400" kern="0" dirty="0">
                <a:solidFill>
                  <a:srgbClr val="000000"/>
                </a:solidFill>
                <a:latin typeface="Liter" pitchFamily="34" charset="0"/>
                <a:ea typeface="Liter" pitchFamily="34" charset="-122"/>
                <a:cs typeface="Liter" pitchFamily="34" charset="-120"/>
              </a:rPr>
              <a:t>FILM GUESSING GAME</a:t>
            </a:r>
            <a:endParaRPr lang="en-US" sz="2900" dirty="0"/>
          </a:p>
        </p:txBody>
      </p:sp>
      <p:sp>
        <p:nvSpPr>
          <p:cNvPr id="7" name="Text 5"/>
          <p:cNvSpPr/>
          <p:nvPr/>
        </p:nvSpPr>
        <p:spPr>
          <a:xfrm>
            <a:off x="18161000" y="800100"/>
            <a:ext cx="5207000" cy="635000"/>
          </a:xfrm>
          <a:prstGeom prst="rect">
            <a:avLst/>
          </a:prstGeom>
          <a:noFill/>
          <a:ln/>
        </p:spPr>
        <p:txBody>
          <a:bodyPr wrap="none" lIns="0" tIns="0" rIns="0" bIns="0" rtlCol="0" anchor="t"/>
          <a:lstStyle/>
          <a:p>
            <a:pPr algn="r">
              <a:lnSpc>
                <a:spcPct val="140000"/>
              </a:lnSpc>
            </a:pPr>
            <a:r>
              <a:rPr lang="en-US" sz="2900" spc="400" kern="0" dirty="0">
                <a:solidFill>
                  <a:srgbClr val="000000"/>
                </a:solidFill>
                <a:latin typeface="Liter" pitchFamily="34" charset="0"/>
                <a:ea typeface="Liter" pitchFamily="34" charset="-122"/>
                <a:cs typeface="Liter" pitchFamily="34" charset="-120"/>
              </a:rPr>
              <a:t>PART 03</a:t>
            </a:r>
            <a:endParaRPr lang="en-US" sz="2900" dirty="0"/>
          </a:p>
        </p:txBody>
      </p:sp>
    </p:spTree>
  </p:cSld>
  <p:clrMapOvr>
    <a:masterClrMapping/>
  </p:clrMapOvr>
  <p:transition>
    <p:fade/>
    <p:spd val="med"/>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gradFill rotWithShape="1" flip="none">
          <a:gsLst>
            <a:gs pos="0">
              <a:srgbClr val="C7E2FF"/>
            </a:gs>
            <a:gs pos="50000">
              <a:srgbClr val="EAF4FF"/>
            </a:gs>
            <a:gs pos="100000">
              <a:srgbClr val="FFFFFF"/>
            </a:gs>
          </a:gsLst>
          <a:lin ang="2700000" scaled="1"/>
        </a:gradFill>
      </p:bgPr>
    </p:bg>
    <p:spTree>
      <p:nvGrpSpPr>
        <p:cNvPr id="1" name=""/>
        <p:cNvGrpSpPr/>
        <p:nvPr/>
      </p:nvGrpSpPr>
      <p:grpSpPr>
        <a:xfrm>
          <a:off x="0" y="0"/>
          <a:ext cx="0" cy="0"/>
          <a:chOff x="0" y="0"/>
          <a:chExt cx="0" cy="0"/>
        </a:xfrm>
      </p:grpSpPr>
      <p:sp>
        <p:nvSpPr>
          <p:cNvPr id="2" name="Text 0"/>
          <p:cNvSpPr/>
          <p:nvPr/>
        </p:nvSpPr>
        <p:spPr>
          <a:xfrm>
            <a:off x="1244600" y="1282700"/>
            <a:ext cx="10363200" cy="2247900"/>
          </a:xfrm>
          <a:prstGeom prst="rect">
            <a:avLst/>
          </a:prstGeom>
          <a:noFill/>
          <a:ln/>
        </p:spPr>
        <p:txBody>
          <a:bodyPr wrap="square" lIns="0" tIns="0" rIns="0" bIns="0" rtlCol="0" anchor="t"/>
          <a:lstStyle/>
          <a:p>
            <a:pPr>
              <a:lnSpc>
                <a:spcPct val="124000"/>
              </a:lnSpc>
            </a:pPr>
            <a:r>
              <a:rPr lang="en-US" sz="6800" dirty="0">
                <a:solidFill>
                  <a:srgbClr val="000000"/>
                </a:solidFill>
                <a:latin typeface="QuattrocentoSans" pitchFamily="34" charset="0"/>
                <a:ea typeface="QuattrocentoSans" pitchFamily="34" charset="-122"/>
                <a:cs typeface="QuattrocentoSans" pitchFamily="34" charset="-120"/>
              </a:rPr>
              <a:t>CORE TECHNOLOGY STACK</a:t>
            </a:r>
            <a:endParaRPr lang="en-US" sz="6800" dirty="0"/>
          </a:p>
        </p:txBody>
      </p:sp>
      <p:sp>
        <p:nvSpPr>
          <p:cNvPr id="3" name="Shape 1"/>
          <p:cNvSpPr/>
          <p:nvPr/>
        </p:nvSpPr>
        <p:spPr>
          <a:xfrm>
            <a:off x="8521700" y="1574800"/>
            <a:ext cx="12522200" cy="0"/>
          </a:xfrm>
          <a:prstGeom prst="straightConnector1">
            <a:avLst/>
          </a:prstGeom>
          <a:noFill/>
          <a:ln w="9525">
            <a:solidFill>
              <a:srgbClr val="000000"/>
            </a:solidFill>
            <a:prstDash val="solid"/>
            <a:headEnd type="none"/>
            <a:tailEnd type="none"/>
          </a:ln>
        </p:spPr>
      </p:sp>
      <p:sp>
        <p:nvSpPr>
          <p:cNvPr id="4" name="Text 2"/>
          <p:cNvSpPr/>
          <p:nvPr/>
        </p:nvSpPr>
        <p:spPr>
          <a:xfrm>
            <a:off x="6477000" y="3657600"/>
            <a:ext cx="5842000" cy="825500"/>
          </a:xfrm>
          <a:prstGeom prst="rect">
            <a:avLst/>
          </a:prstGeom>
          <a:noFill/>
          <a:ln/>
        </p:spPr>
        <p:txBody>
          <a:bodyPr wrap="none" lIns="0" tIns="0" rIns="0" bIns="0" rtlCol="0" anchor="t"/>
          <a:lstStyle/>
          <a:p>
            <a:pPr>
              <a:lnSpc>
                <a:spcPct val="140000"/>
              </a:lnSpc>
            </a:pPr>
            <a:r>
              <a:rPr lang="en-US" sz="4100" dirty="0">
                <a:solidFill>
                  <a:srgbClr val="000000"/>
                </a:solidFill>
                <a:latin typeface="QuattrocentoSans" pitchFamily="34" charset="0"/>
                <a:ea typeface="QuattrocentoSans" pitchFamily="34" charset="-122"/>
                <a:cs typeface="QuattrocentoSans" pitchFamily="34" charset="-120"/>
              </a:rPr>
              <a:t>Technology Foundation</a:t>
            </a:r>
            <a:endParaRPr lang="en-US" sz="4100" dirty="0"/>
          </a:p>
        </p:txBody>
      </p:sp>
      <p:sp>
        <p:nvSpPr>
          <p:cNvPr id="5" name="Text 3"/>
          <p:cNvSpPr/>
          <p:nvPr/>
        </p:nvSpPr>
        <p:spPr>
          <a:xfrm>
            <a:off x="18161000" y="1244600"/>
            <a:ext cx="5207000" cy="635000"/>
          </a:xfrm>
          <a:prstGeom prst="rect">
            <a:avLst/>
          </a:prstGeom>
          <a:noFill/>
          <a:ln/>
        </p:spPr>
        <p:txBody>
          <a:bodyPr wrap="none" lIns="0" tIns="0" rIns="0" bIns="0" rtlCol="0" anchor="t"/>
          <a:lstStyle/>
          <a:p>
            <a:pPr algn="r">
              <a:lnSpc>
                <a:spcPct val="140000"/>
              </a:lnSpc>
            </a:pPr>
            <a:r>
              <a:rPr lang="en-US" sz="2900" spc="400" kern="0" dirty="0">
                <a:solidFill>
                  <a:srgbClr val="000000"/>
                </a:solidFill>
                <a:latin typeface="Liter" pitchFamily="34" charset="0"/>
                <a:ea typeface="Liter" pitchFamily="34" charset="-122"/>
                <a:cs typeface="Liter" pitchFamily="34" charset="-120"/>
              </a:rPr>
              <a:t>PART 03</a:t>
            </a:r>
            <a:endParaRPr lang="en-US" sz="2900" dirty="0"/>
          </a:p>
        </p:txBody>
      </p:sp>
      <p:sp>
        <p:nvSpPr>
          <p:cNvPr id="6" name="Shape 4"/>
          <p:cNvSpPr/>
          <p:nvPr/>
        </p:nvSpPr>
        <p:spPr>
          <a:xfrm rot="5400000">
            <a:off x="1346200" y="3835400"/>
            <a:ext cx="368300" cy="330200"/>
          </a:xfrm>
          <a:prstGeom prst="triangle">
            <a:avLst>
              <a:gd name="adj" fmla="val 50000"/>
            </a:avLst>
          </a:prstGeom>
          <a:solidFill>
            <a:srgbClr val="004AAD"/>
          </a:solidFill>
          <a:ln/>
        </p:spPr>
      </p:sp>
      <p:sp>
        <p:nvSpPr>
          <p:cNvPr id="7" name="Shape 5"/>
          <p:cNvSpPr/>
          <p:nvPr/>
        </p:nvSpPr>
        <p:spPr>
          <a:xfrm rot="5400000">
            <a:off x="1854200" y="3835400"/>
            <a:ext cx="368300" cy="330200"/>
          </a:xfrm>
          <a:prstGeom prst="triangle">
            <a:avLst>
              <a:gd name="adj" fmla="val 50000"/>
            </a:avLst>
          </a:prstGeom>
          <a:solidFill>
            <a:srgbClr val="004AAD"/>
          </a:solidFill>
          <a:ln/>
        </p:spPr>
      </p:sp>
      <p:sp>
        <p:nvSpPr>
          <p:cNvPr id="8" name="Shape 6"/>
          <p:cNvSpPr/>
          <p:nvPr/>
        </p:nvSpPr>
        <p:spPr>
          <a:xfrm rot="5400000">
            <a:off x="2349500" y="3835400"/>
            <a:ext cx="368300" cy="330200"/>
          </a:xfrm>
          <a:prstGeom prst="triangle">
            <a:avLst>
              <a:gd name="adj" fmla="val 50000"/>
            </a:avLst>
          </a:prstGeom>
          <a:solidFill>
            <a:srgbClr val="004AAD"/>
          </a:solidFill>
          <a:ln/>
        </p:spPr>
      </p:sp>
      <p:sp>
        <p:nvSpPr>
          <p:cNvPr id="9" name="Shape 7"/>
          <p:cNvSpPr/>
          <p:nvPr/>
        </p:nvSpPr>
        <p:spPr>
          <a:xfrm rot="5400000">
            <a:off x="2857500" y="3835400"/>
            <a:ext cx="368300" cy="330200"/>
          </a:xfrm>
          <a:prstGeom prst="triangle">
            <a:avLst>
              <a:gd name="adj" fmla="val 50000"/>
            </a:avLst>
          </a:prstGeom>
          <a:solidFill>
            <a:srgbClr val="004AAD"/>
          </a:solidFill>
          <a:ln/>
        </p:spPr>
      </p:sp>
      <p:sp>
        <p:nvSpPr>
          <p:cNvPr id="10" name="Shape 8"/>
          <p:cNvSpPr/>
          <p:nvPr/>
        </p:nvSpPr>
        <p:spPr>
          <a:xfrm rot="5400000">
            <a:off x="3352800" y="3835400"/>
            <a:ext cx="368300" cy="330200"/>
          </a:xfrm>
          <a:prstGeom prst="triangle">
            <a:avLst>
              <a:gd name="adj" fmla="val 50000"/>
            </a:avLst>
          </a:prstGeom>
          <a:solidFill>
            <a:srgbClr val="004AAD"/>
          </a:solidFill>
          <a:ln/>
        </p:spPr>
      </p:sp>
      <p:sp>
        <p:nvSpPr>
          <p:cNvPr id="11" name="Shape 9"/>
          <p:cNvSpPr/>
          <p:nvPr/>
        </p:nvSpPr>
        <p:spPr>
          <a:xfrm rot="5400000">
            <a:off x="3860800" y="3835400"/>
            <a:ext cx="368300" cy="330200"/>
          </a:xfrm>
          <a:prstGeom prst="triangle">
            <a:avLst>
              <a:gd name="adj" fmla="val 50000"/>
            </a:avLst>
          </a:prstGeom>
          <a:solidFill>
            <a:srgbClr val="004AAD"/>
          </a:solidFill>
          <a:ln/>
        </p:spPr>
      </p:sp>
      <p:sp>
        <p:nvSpPr>
          <p:cNvPr id="12" name="Shape 10"/>
          <p:cNvSpPr/>
          <p:nvPr/>
        </p:nvSpPr>
        <p:spPr>
          <a:xfrm>
            <a:off x="1371600" y="4826000"/>
            <a:ext cx="6680200" cy="7137400"/>
          </a:xfrm>
          <a:prstGeom prst="rect">
            <a:avLst/>
          </a:prstGeom>
          <a:solidFill>
            <a:srgbClr val="7EC8E3"/>
          </a:solidFill>
          <a:ln/>
        </p:spPr>
      </p:sp>
      <p:sp>
        <p:nvSpPr>
          <p:cNvPr id="13" name="Shape 11"/>
          <p:cNvSpPr/>
          <p:nvPr/>
        </p:nvSpPr>
        <p:spPr>
          <a:xfrm>
            <a:off x="3784600" y="5207000"/>
            <a:ext cx="812800" cy="812800"/>
          </a:xfrm>
          <a:custGeom>
            <a:avLst/>
            <a:gdLst/>
            <a:ahLst/>
            <a:cxnLst/>
            <a:rect l="l" t="t" r="r" b="b"/>
            <a:pathLst>
              <a:path w="812800" h="812800">
                <a:moveTo>
                  <a:pt x="101600" y="50800"/>
                </a:moveTo>
                <a:cubicBezTo>
                  <a:pt x="45561" y="50800"/>
                  <a:pt x="0" y="96361"/>
                  <a:pt x="0" y="152400"/>
                </a:cubicBezTo>
                <a:lnTo>
                  <a:pt x="0" y="558800"/>
                </a:lnTo>
                <a:cubicBezTo>
                  <a:pt x="0" y="614839"/>
                  <a:pt x="45561" y="660400"/>
                  <a:pt x="101600" y="660400"/>
                </a:cubicBezTo>
                <a:lnTo>
                  <a:pt x="330200" y="660400"/>
                </a:lnTo>
                <a:lnTo>
                  <a:pt x="304800" y="736600"/>
                </a:lnTo>
                <a:lnTo>
                  <a:pt x="190500" y="736600"/>
                </a:lnTo>
                <a:cubicBezTo>
                  <a:pt x="169386" y="736600"/>
                  <a:pt x="152400" y="753586"/>
                  <a:pt x="152400" y="774700"/>
                </a:cubicBezTo>
                <a:cubicBezTo>
                  <a:pt x="152400" y="795814"/>
                  <a:pt x="169386" y="812800"/>
                  <a:pt x="190500" y="812800"/>
                </a:cubicBezTo>
                <a:lnTo>
                  <a:pt x="622300" y="812800"/>
                </a:lnTo>
                <a:cubicBezTo>
                  <a:pt x="643414" y="812800"/>
                  <a:pt x="660400" y="795814"/>
                  <a:pt x="660400" y="774700"/>
                </a:cubicBezTo>
                <a:cubicBezTo>
                  <a:pt x="660400" y="753586"/>
                  <a:pt x="643414" y="736600"/>
                  <a:pt x="622300" y="736600"/>
                </a:cubicBezTo>
                <a:lnTo>
                  <a:pt x="508000" y="736600"/>
                </a:lnTo>
                <a:lnTo>
                  <a:pt x="482600" y="660400"/>
                </a:lnTo>
                <a:lnTo>
                  <a:pt x="711200" y="660400"/>
                </a:lnTo>
                <a:cubicBezTo>
                  <a:pt x="767239" y="660400"/>
                  <a:pt x="812800" y="614839"/>
                  <a:pt x="812800" y="558800"/>
                </a:cubicBezTo>
                <a:lnTo>
                  <a:pt x="812800" y="152400"/>
                </a:lnTo>
                <a:cubicBezTo>
                  <a:pt x="812800" y="96361"/>
                  <a:pt x="767239" y="50800"/>
                  <a:pt x="711200" y="50800"/>
                </a:cubicBezTo>
                <a:lnTo>
                  <a:pt x="101600" y="50800"/>
                </a:lnTo>
                <a:close/>
                <a:moveTo>
                  <a:pt x="152400" y="152400"/>
                </a:moveTo>
                <a:lnTo>
                  <a:pt x="660400" y="152400"/>
                </a:lnTo>
                <a:cubicBezTo>
                  <a:pt x="688499" y="152400"/>
                  <a:pt x="711200" y="175101"/>
                  <a:pt x="711200" y="203200"/>
                </a:cubicBezTo>
                <a:lnTo>
                  <a:pt x="711200" y="457200"/>
                </a:lnTo>
                <a:cubicBezTo>
                  <a:pt x="711200" y="485299"/>
                  <a:pt x="688499" y="508000"/>
                  <a:pt x="660400" y="508000"/>
                </a:cubicBezTo>
                <a:lnTo>
                  <a:pt x="152400" y="508000"/>
                </a:lnTo>
                <a:cubicBezTo>
                  <a:pt x="124301" y="508000"/>
                  <a:pt x="101600" y="485299"/>
                  <a:pt x="101600" y="457200"/>
                </a:cubicBezTo>
                <a:lnTo>
                  <a:pt x="101600" y="203200"/>
                </a:lnTo>
                <a:cubicBezTo>
                  <a:pt x="101600" y="175101"/>
                  <a:pt x="124301" y="152400"/>
                  <a:pt x="152400" y="152400"/>
                </a:cubicBezTo>
                <a:close/>
              </a:path>
            </a:pathLst>
          </a:custGeom>
          <a:solidFill>
            <a:srgbClr val="004AAD"/>
          </a:solidFill>
          <a:ln/>
        </p:spPr>
      </p:sp>
      <p:sp>
        <p:nvSpPr>
          <p:cNvPr id="14" name="Text 12"/>
          <p:cNvSpPr/>
          <p:nvPr/>
        </p:nvSpPr>
        <p:spPr>
          <a:xfrm>
            <a:off x="2514600" y="6223000"/>
            <a:ext cx="4381500" cy="711200"/>
          </a:xfrm>
          <a:prstGeom prst="rect">
            <a:avLst/>
          </a:prstGeom>
          <a:noFill/>
          <a:ln/>
        </p:spPr>
        <p:txBody>
          <a:bodyPr wrap="none" lIns="0" tIns="0" rIns="0" bIns="0" rtlCol="0" anchor="t"/>
          <a:lstStyle/>
          <a:p>
            <a:pPr algn="ctr">
              <a:lnSpc>
                <a:spcPct val="140000"/>
              </a:lnSpc>
            </a:pPr>
            <a:r>
              <a:rPr lang="en-US" sz="3500" dirty="0">
                <a:solidFill>
                  <a:srgbClr val="000000"/>
                </a:solidFill>
                <a:latin typeface="QuattrocentoSans" pitchFamily="34" charset="0"/>
                <a:ea typeface="QuattrocentoSans" pitchFamily="34" charset="-122"/>
                <a:cs typeface="QuattrocentoSans" pitchFamily="34" charset="-120"/>
              </a:rPr>
              <a:t>JavaFX</a:t>
            </a:r>
            <a:endParaRPr lang="en-US" sz="3500" dirty="0"/>
          </a:p>
        </p:txBody>
      </p:sp>
      <p:sp>
        <p:nvSpPr>
          <p:cNvPr id="15" name="Shape 13"/>
          <p:cNvSpPr/>
          <p:nvPr/>
        </p:nvSpPr>
        <p:spPr>
          <a:xfrm>
            <a:off x="4191000" y="7048500"/>
            <a:ext cx="1041400" cy="0"/>
          </a:xfrm>
          <a:prstGeom prst="straightConnector1">
            <a:avLst/>
          </a:prstGeom>
          <a:noFill/>
          <a:ln w="76200">
            <a:solidFill>
              <a:srgbClr val="48B2FF"/>
            </a:solidFill>
            <a:prstDash val="solid"/>
            <a:headEnd type="none"/>
            <a:tailEnd type="none"/>
          </a:ln>
        </p:spPr>
      </p:sp>
      <p:sp>
        <p:nvSpPr>
          <p:cNvPr id="16" name="Text 14"/>
          <p:cNvSpPr/>
          <p:nvPr/>
        </p:nvSpPr>
        <p:spPr>
          <a:xfrm>
            <a:off x="1981200" y="7302500"/>
            <a:ext cx="5461000" cy="4318000"/>
          </a:xfrm>
          <a:prstGeom prst="rect">
            <a:avLst/>
          </a:prstGeom>
          <a:noFill/>
          <a:ln/>
        </p:spPr>
        <p:txBody>
          <a:bodyPr wrap="square" lIns="0" tIns="0" rIns="0" bIns="0" rtlCol="0" anchor="t"/>
          <a:lstStyle/>
          <a:p>
            <a:pPr algn="just">
              <a:lnSpc>
                <a:spcPct val="156000"/>
              </a:lnSpc>
            </a:pPr>
            <a:r>
              <a:rPr lang="en-US" sz="2700" dirty="0">
                <a:solidFill>
                  <a:srgbClr val="000000"/>
                </a:solidFill>
                <a:latin typeface="Liter" pitchFamily="34" charset="0"/>
                <a:ea typeface="Liter" pitchFamily="34" charset="-122"/>
                <a:cs typeface="Liter" pitchFamily="34" charset="-120"/>
              </a:rPr>
              <a:t>Dedicated framework for responsive and interactive User Interface development. Provides rich UI controls, CSS styling, and FXML support for building modern desktop applications.</a:t>
            </a:r>
            <a:endParaRPr lang="en-US" sz="2700" dirty="0"/>
          </a:p>
        </p:txBody>
      </p:sp>
      <p:sp>
        <p:nvSpPr>
          <p:cNvPr id="17" name="Shape 15"/>
          <p:cNvSpPr/>
          <p:nvPr/>
        </p:nvSpPr>
        <p:spPr>
          <a:xfrm>
            <a:off x="8851900" y="4826000"/>
            <a:ext cx="6680200" cy="7137400"/>
          </a:xfrm>
          <a:prstGeom prst="rect">
            <a:avLst/>
          </a:prstGeom>
          <a:solidFill>
            <a:srgbClr val="BFE4FF"/>
          </a:solidFill>
          <a:ln/>
        </p:spPr>
      </p:sp>
      <p:sp>
        <p:nvSpPr>
          <p:cNvPr id="18" name="Shape 16"/>
          <p:cNvSpPr/>
          <p:nvPr/>
        </p:nvSpPr>
        <p:spPr>
          <a:xfrm>
            <a:off x="11315700" y="5207000"/>
            <a:ext cx="711200" cy="812800"/>
          </a:xfrm>
          <a:custGeom>
            <a:avLst/>
            <a:gdLst/>
            <a:ahLst/>
            <a:cxnLst/>
            <a:rect l="l" t="t" r="r" b="b"/>
            <a:pathLst>
              <a:path w="711200" h="812800">
                <a:moveTo>
                  <a:pt x="711200" y="326708"/>
                </a:moveTo>
                <a:cubicBezTo>
                  <a:pt x="687705" y="342265"/>
                  <a:pt x="660717" y="354806"/>
                  <a:pt x="632619" y="364808"/>
                </a:cubicBezTo>
                <a:cubicBezTo>
                  <a:pt x="558006" y="391478"/>
                  <a:pt x="460058" y="406400"/>
                  <a:pt x="355600" y="406400"/>
                </a:cubicBezTo>
                <a:cubicBezTo>
                  <a:pt x="251142" y="406400"/>
                  <a:pt x="153035" y="391319"/>
                  <a:pt x="78581" y="364808"/>
                </a:cubicBezTo>
                <a:cubicBezTo>
                  <a:pt x="50641" y="354806"/>
                  <a:pt x="23495" y="342265"/>
                  <a:pt x="0" y="326708"/>
                </a:cubicBezTo>
                <a:lnTo>
                  <a:pt x="0" y="457200"/>
                </a:lnTo>
                <a:cubicBezTo>
                  <a:pt x="0" y="527368"/>
                  <a:pt x="159226" y="584200"/>
                  <a:pt x="355600" y="584200"/>
                </a:cubicBezTo>
                <a:cubicBezTo>
                  <a:pt x="551974" y="584200"/>
                  <a:pt x="711200" y="527368"/>
                  <a:pt x="711200" y="457200"/>
                </a:cubicBezTo>
                <a:lnTo>
                  <a:pt x="711200" y="326708"/>
                </a:lnTo>
                <a:close/>
                <a:moveTo>
                  <a:pt x="711200" y="203200"/>
                </a:moveTo>
                <a:lnTo>
                  <a:pt x="711200" y="127000"/>
                </a:lnTo>
                <a:cubicBezTo>
                  <a:pt x="711200" y="56832"/>
                  <a:pt x="551974" y="0"/>
                  <a:pt x="355600" y="0"/>
                </a:cubicBezTo>
                <a:cubicBezTo>
                  <a:pt x="159226" y="0"/>
                  <a:pt x="0" y="56832"/>
                  <a:pt x="0" y="127000"/>
                </a:cubicBezTo>
                <a:lnTo>
                  <a:pt x="0" y="203200"/>
                </a:lnTo>
                <a:cubicBezTo>
                  <a:pt x="0" y="273368"/>
                  <a:pt x="159226" y="330200"/>
                  <a:pt x="355600" y="330200"/>
                </a:cubicBezTo>
                <a:cubicBezTo>
                  <a:pt x="551974" y="330200"/>
                  <a:pt x="711200" y="273368"/>
                  <a:pt x="711200" y="203200"/>
                </a:cubicBezTo>
                <a:close/>
                <a:moveTo>
                  <a:pt x="632619" y="618808"/>
                </a:moveTo>
                <a:cubicBezTo>
                  <a:pt x="558165" y="645319"/>
                  <a:pt x="460216" y="660400"/>
                  <a:pt x="355600" y="660400"/>
                </a:cubicBezTo>
                <a:cubicBezTo>
                  <a:pt x="250984" y="660400"/>
                  <a:pt x="153035" y="645319"/>
                  <a:pt x="78581" y="618808"/>
                </a:cubicBezTo>
                <a:cubicBezTo>
                  <a:pt x="50641" y="608806"/>
                  <a:pt x="23495" y="596265"/>
                  <a:pt x="0" y="580708"/>
                </a:cubicBezTo>
                <a:lnTo>
                  <a:pt x="0" y="685800"/>
                </a:lnTo>
                <a:cubicBezTo>
                  <a:pt x="0" y="755968"/>
                  <a:pt x="159226" y="812800"/>
                  <a:pt x="355600" y="812800"/>
                </a:cubicBezTo>
                <a:cubicBezTo>
                  <a:pt x="551974" y="812800"/>
                  <a:pt x="711200" y="755968"/>
                  <a:pt x="711200" y="685800"/>
                </a:cubicBezTo>
                <a:lnTo>
                  <a:pt x="711200" y="580708"/>
                </a:lnTo>
                <a:cubicBezTo>
                  <a:pt x="687705" y="596265"/>
                  <a:pt x="660717" y="608806"/>
                  <a:pt x="632619" y="618808"/>
                </a:cubicBezTo>
                <a:close/>
              </a:path>
            </a:pathLst>
          </a:custGeom>
          <a:solidFill>
            <a:srgbClr val="004AAD"/>
          </a:solidFill>
          <a:ln/>
        </p:spPr>
      </p:sp>
      <p:sp>
        <p:nvSpPr>
          <p:cNvPr id="19" name="Text 17"/>
          <p:cNvSpPr/>
          <p:nvPr/>
        </p:nvSpPr>
        <p:spPr>
          <a:xfrm>
            <a:off x="9994900" y="6223000"/>
            <a:ext cx="4381500" cy="711200"/>
          </a:xfrm>
          <a:prstGeom prst="rect">
            <a:avLst/>
          </a:prstGeom>
          <a:noFill/>
          <a:ln/>
        </p:spPr>
        <p:txBody>
          <a:bodyPr wrap="none" lIns="0" tIns="0" rIns="0" bIns="0" rtlCol="0" anchor="t"/>
          <a:lstStyle/>
          <a:p>
            <a:pPr algn="ctr">
              <a:lnSpc>
                <a:spcPct val="140000"/>
              </a:lnSpc>
            </a:pPr>
            <a:r>
              <a:rPr lang="en-US" sz="3500" dirty="0">
                <a:solidFill>
                  <a:srgbClr val="000000"/>
                </a:solidFill>
                <a:latin typeface="QuattrocentoSans" pitchFamily="34" charset="0"/>
                <a:ea typeface="QuattrocentoSans" pitchFamily="34" charset="-122"/>
                <a:cs typeface="QuattrocentoSans" pitchFamily="34" charset="-120"/>
              </a:rPr>
              <a:t>MySQL</a:t>
            </a:r>
            <a:endParaRPr lang="en-US" sz="3500" dirty="0"/>
          </a:p>
        </p:txBody>
      </p:sp>
      <p:sp>
        <p:nvSpPr>
          <p:cNvPr id="20" name="Shape 18"/>
          <p:cNvSpPr/>
          <p:nvPr/>
        </p:nvSpPr>
        <p:spPr>
          <a:xfrm>
            <a:off x="11671300" y="7048500"/>
            <a:ext cx="1041400" cy="0"/>
          </a:xfrm>
          <a:prstGeom prst="straightConnector1">
            <a:avLst/>
          </a:prstGeom>
          <a:noFill/>
          <a:ln w="76200">
            <a:solidFill>
              <a:srgbClr val="7EC8E3"/>
            </a:solidFill>
            <a:prstDash val="solid"/>
            <a:headEnd type="none"/>
            <a:tailEnd type="none"/>
          </a:ln>
        </p:spPr>
      </p:sp>
      <p:sp>
        <p:nvSpPr>
          <p:cNvPr id="21" name="Text 19"/>
          <p:cNvSpPr/>
          <p:nvPr/>
        </p:nvSpPr>
        <p:spPr>
          <a:xfrm>
            <a:off x="9461500" y="7302500"/>
            <a:ext cx="5461000" cy="4318000"/>
          </a:xfrm>
          <a:prstGeom prst="rect">
            <a:avLst/>
          </a:prstGeom>
          <a:noFill/>
          <a:ln/>
        </p:spPr>
        <p:txBody>
          <a:bodyPr wrap="square" lIns="0" tIns="0" rIns="0" bIns="0" rtlCol="0" anchor="t"/>
          <a:lstStyle/>
          <a:p>
            <a:pPr algn="just">
              <a:lnSpc>
                <a:spcPct val="156000"/>
              </a:lnSpc>
            </a:pPr>
            <a:r>
              <a:rPr lang="en-US" sz="2700" dirty="0">
                <a:solidFill>
                  <a:srgbClr val="000000"/>
                </a:solidFill>
                <a:latin typeface="Liter" pitchFamily="34" charset="0"/>
                <a:ea typeface="Liter" pitchFamily="34" charset="-122"/>
                <a:cs typeface="Liter" pitchFamily="34" charset="-120"/>
              </a:rPr>
              <a:t>Relational Database Management System for efficient and structured data persistence. Stores film data, player progress, scores, and game state reliably.</a:t>
            </a:r>
            <a:endParaRPr lang="en-US" sz="2700" dirty="0"/>
          </a:p>
        </p:txBody>
      </p:sp>
      <p:sp>
        <p:nvSpPr>
          <p:cNvPr id="22" name="Shape 20"/>
          <p:cNvSpPr/>
          <p:nvPr/>
        </p:nvSpPr>
        <p:spPr>
          <a:xfrm>
            <a:off x="16332200" y="4826000"/>
            <a:ext cx="6680200" cy="7137400"/>
          </a:xfrm>
          <a:prstGeom prst="rect">
            <a:avLst/>
          </a:prstGeom>
          <a:solidFill>
            <a:srgbClr val="7EC8E3"/>
          </a:solidFill>
          <a:ln/>
        </p:spPr>
      </p:sp>
      <p:sp>
        <p:nvSpPr>
          <p:cNvPr id="23" name="Shape 21"/>
          <p:cNvSpPr/>
          <p:nvPr/>
        </p:nvSpPr>
        <p:spPr>
          <a:xfrm>
            <a:off x="18846800" y="5207000"/>
            <a:ext cx="609600" cy="812800"/>
          </a:xfrm>
          <a:custGeom>
            <a:avLst/>
            <a:gdLst/>
            <a:ahLst/>
            <a:cxnLst/>
            <a:rect l="l" t="t" r="r" b="b"/>
            <a:pathLst>
              <a:path w="609600" h="812800">
                <a:moveTo>
                  <a:pt x="441008" y="496729"/>
                </a:moveTo>
                <a:cubicBezTo>
                  <a:pt x="456565" y="486092"/>
                  <a:pt x="478155" y="476885"/>
                  <a:pt x="478155" y="476885"/>
                </a:cubicBezTo>
                <a:cubicBezTo>
                  <a:pt x="478155" y="476885"/>
                  <a:pt x="416719" y="487997"/>
                  <a:pt x="355600" y="493077"/>
                </a:cubicBezTo>
                <a:cubicBezTo>
                  <a:pt x="280829" y="499269"/>
                  <a:pt x="200501" y="500539"/>
                  <a:pt x="160179" y="495141"/>
                </a:cubicBezTo>
                <a:cubicBezTo>
                  <a:pt x="64770" y="482441"/>
                  <a:pt x="212566" y="447357"/>
                  <a:pt x="212566" y="447357"/>
                </a:cubicBezTo>
                <a:cubicBezTo>
                  <a:pt x="212566" y="447357"/>
                  <a:pt x="155258" y="443547"/>
                  <a:pt x="84614" y="477520"/>
                </a:cubicBezTo>
                <a:cubicBezTo>
                  <a:pt x="1270" y="517842"/>
                  <a:pt x="290989" y="536258"/>
                  <a:pt x="441008" y="496729"/>
                </a:cubicBezTo>
                <a:close/>
                <a:moveTo>
                  <a:pt x="305435" y="445770"/>
                </a:moveTo>
                <a:cubicBezTo>
                  <a:pt x="275273" y="377984"/>
                  <a:pt x="173514" y="318452"/>
                  <a:pt x="305435" y="214312"/>
                </a:cubicBezTo>
                <a:cubicBezTo>
                  <a:pt x="470059" y="84455"/>
                  <a:pt x="385604" y="0"/>
                  <a:pt x="385604" y="0"/>
                </a:cubicBezTo>
                <a:cubicBezTo>
                  <a:pt x="419735" y="134144"/>
                  <a:pt x="265589" y="174784"/>
                  <a:pt x="209868" y="258127"/>
                </a:cubicBezTo>
                <a:cubicBezTo>
                  <a:pt x="171926" y="315119"/>
                  <a:pt x="228441" y="376237"/>
                  <a:pt x="305435" y="445770"/>
                </a:cubicBezTo>
                <a:close/>
                <a:moveTo>
                  <a:pt x="487363" y="166053"/>
                </a:moveTo>
                <a:cubicBezTo>
                  <a:pt x="487521" y="166053"/>
                  <a:pt x="209233" y="235585"/>
                  <a:pt x="342106" y="388620"/>
                </a:cubicBezTo>
                <a:cubicBezTo>
                  <a:pt x="381317" y="433705"/>
                  <a:pt x="331788" y="474345"/>
                  <a:pt x="331788" y="474345"/>
                </a:cubicBezTo>
                <a:cubicBezTo>
                  <a:pt x="331788" y="474345"/>
                  <a:pt x="431324" y="422910"/>
                  <a:pt x="385604" y="358616"/>
                </a:cubicBezTo>
                <a:cubicBezTo>
                  <a:pt x="342900" y="298609"/>
                  <a:pt x="310198" y="268764"/>
                  <a:pt x="487363" y="166053"/>
                </a:cubicBezTo>
                <a:close/>
                <a:moveTo>
                  <a:pt x="477679" y="595471"/>
                </a:moveTo>
                <a:cubicBezTo>
                  <a:pt x="476885" y="597059"/>
                  <a:pt x="475774" y="598329"/>
                  <a:pt x="474504" y="599599"/>
                </a:cubicBezTo>
                <a:cubicBezTo>
                  <a:pt x="678180" y="546100"/>
                  <a:pt x="603250" y="410845"/>
                  <a:pt x="505936" y="445135"/>
                </a:cubicBezTo>
                <a:cubicBezTo>
                  <a:pt x="500698" y="447040"/>
                  <a:pt x="496094" y="450533"/>
                  <a:pt x="492919" y="455136"/>
                </a:cubicBezTo>
                <a:cubicBezTo>
                  <a:pt x="498634" y="453073"/>
                  <a:pt x="504508" y="451485"/>
                  <a:pt x="510381" y="450374"/>
                </a:cubicBezTo>
                <a:cubicBezTo>
                  <a:pt x="559594" y="440055"/>
                  <a:pt x="630238" y="516255"/>
                  <a:pt x="477679" y="595471"/>
                </a:cubicBezTo>
                <a:close/>
                <a:moveTo>
                  <a:pt x="552450" y="694372"/>
                </a:moveTo>
                <a:cubicBezTo>
                  <a:pt x="552450" y="694372"/>
                  <a:pt x="575469" y="713264"/>
                  <a:pt x="527209" y="728027"/>
                </a:cubicBezTo>
                <a:cubicBezTo>
                  <a:pt x="435293" y="755809"/>
                  <a:pt x="144939" y="764223"/>
                  <a:pt x="64294" y="729139"/>
                </a:cubicBezTo>
                <a:cubicBezTo>
                  <a:pt x="35243" y="716597"/>
                  <a:pt x="89694" y="698976"/>
                  <a:pt x="106839" y="695325"/>
                </a:cubicBezTo>
                <a:cubicBezTo>
                  <a:pt x="124619" y="691515"/>
                  <a:pt x="134938" y="692150"/>
                  <a:pt x="134938" y="692150"/>
                </a:cubicBezTo>
                <a:cubicBezTo>
                  <a:pt x="102711" y="669449"/>
                  <a:pt x="-73501" y="736759"/>
                  <a:pt x="45403" y="755967"/>
                </a:cubicBezTo>
                <a:cubicBezTo>
                  <a:pt x="369570" y="808672"/>
                  <a:pt x="636588" y="732314"/>
                  <a:pt x="552450" y="694372"/>
                </a:cubicBezTo>
                <a:close/>
                <a:moveTo>
                  <a:pt x="197644" y="628650"/>
                </a:moveTo>
                <a:cubicBezTo>
                  <a:pt x="72708" y="663575"/>
                  <a:pt x="273685" y="735648"/>
                  <a:pt x="432753" y="667544"/>
                </a:cubicBezTo>
                <a:cubicBezTo>
                  <a:pt x="417195" y="661511"/>
                  <a:pt x="402273" y="654209"/>
                  <a:pt x="387985" y="645636"/>
                </a:cubicBezTo>
                <a:cubicBezTo>
                  <a:pt x="317024" y="659130"/>
                  <a:pt x="284163" y="660083"/>
                  <a:pt x="219710" y="652780"/>
                </a:cubicBezTo>
                <a:cubicBezTo>
                  <a:pt x="166529" y="646748"/>
                  <a:pt x="197644" y="628650"/>
                  <a:pt x="197644" y="628650"/>
                </a:cubicBezTo>
                <a:close/>
                <a:moveTo>
                  <a:pt x="483076" y="782955"/>
                </a:moveTo>
                <a:cubicBezTo>
                  <a:pt x="358140" y="806450"/>
                  <a:pt x="203994" y="803751"/>
                  <a:pt x="112713" y="788670"/>
                </a:cubicBezTo>
                <a:cubicBezTo>
                  <a:pt x="112713" y="788511"/>
                  <a:pt x="131445" y="804069"/>
                  <a:pt x="227648" y="810260"/>
                </a:cubicBezTo>
                <a:cubicBezTo>
                  <a:pt x="374015" y="819626"/>
                  <a:pt x="598805" y="805021"/>
                  <a:pt x="604044" y="735806"/>
                </a:cubicBezTo>
                <a:cubicBezTo>
                  <a:pt x="604044" y="735806"/>
                  <a:pt x="593884" y="762000"/>
                  <a:pt x="483076" y="782955"/>
                </a:cubicBezTo>
                <a:close/>
                <a:moveTo>
                  <a:pt x="413861" y="560388"/>
                </a:moveTo>
                <a:cubicBezTo>
                  <a:pt x="319881" y="578485"/>
                  <a:pt x="265430" y="578009"/>
                  <a:pt x="196691" y="570865"/>
                </a:cubicBezTo>
                <a:cubicBezTo>
                  <a:pt x="143510" y="565309"/>
                  <a:pt x="178276" y="539591"/>
                  <a:pt x="178276" y="539591"/>
                </a:cubicBezTo>
                <a:cubicBezTo>
                  <a:pt x="40481" y="585311"/>
                  <a:pt x="254794" y="637064"/>
                  <a:pt x="447357" y="580708"/>
                </a:cubicBezTo>
                <a:cubicBezTo>
                  <a:pt x="434975" y="576263"/>
                  <a:pt x="423545" y="569436"/>
                  <a:pt x="413861" y="560388"/>
                </a:cubicBezTo>
                <a:close/>
              </a:path>
            </a:pathLst>
          </a:custGeom>
          <a:solidFill>
            <a:srgbClr val="004AAD"/>
          </a:solidFill>
          <a:ln/>
        </p:spPr>
      </p:sp>
      <p:sp>
        <p:nvSpPr>
          <p:cNvPr id="24" name="Text 22"/>
          <p:cNvSpPr/>
          <p:nvPr/>
        </p:nvSpPr>
        <p:spPr>
          <a:xfrm>
            <a:off x="17475200" y="6223000"/>
            <a:ext cx="4381500" cy="711200"/>
          </a:xfrm>
          <a:prstGeom prst="rect">
            <a:avLst/>
          </a:prstGeom>
          <a:noFill/>
          <a:ln/>
        </p:spPr>
        <p:txBody>
          <a:bodyPr wrap="none" lIns="0" tIns="0" rIns="0" bIns="0" rtlCol="0" anchor="t"/>
          <a:lstStyle/>
          <a:p>
            <a:pPr algn="ctr">
              <a:lnSpc>
                <a:spcPct val="140000"/>
              </a:lnSpc>
            </a:pPr>
            <a:r>
              <a:rPr lang="en-US" sz="3500" dirty="0">
                <a:solidFill>
                  <a:srgbClr val="000000"/>
                </a:solidFill>
                <a:latin typeface="QuattrocentoSans" pitchFamily="34" charset="0"/>
                <a:ea typeface="QuattrocentoSans" pitchFamily="34" charset="-122"/>
                <a:cs typeface="QuattrocentoSans" pitchFamily="34" charset="-120"/>
              </a:rPr>
              <a:t>Java</a:t>
            </a:r>
            <a:endParaRPr lang="en-US" sz="3500" dirty="0"/>
          </a:p>
        </p:txBody>
      </p:sp>
      <p:sp>
        <p:nvSpPr>
          <p:cNvPr id="25" name="Shape 23"/>
          <p:cNvSpPr/>
          <p:nvPr/>
        </p:nvSpPr>
        <p:spPr>
          <a:xfrm>
            <a:off x="19138900" y="7048500"/>
            <a:ext cx="1041400" cy="0"/>
          </a:xfrm>
          <a:prstGeom prst="straightConnector1">
            <a:avLst/>
          </a:prstGeom>
          <a:noFill/>
          <a:ln w="76200">
            <a:solidFill>
              <a:srgbClr val="48B2FF"/>
            </a:solidFill>
            <a:prstDash val="solid"/>
            <a:headEnd type="none"/>
            <a:tailEnd type="none"/>
          </a:ln>
        </p:spPr>
      </p:sp>
      <p:sp>
        <p:nvSpPr>
          <p:cNvPr id="26" name="Text 24"/>
          <p:cNvSpPr/>
          <p:nvPr/>
        </p:nvSpPr>
        <p:spPr>
          <a:xfrm>
            <a:off x="16941800" y="7302500"/>
            <a:ext cx="5461000" cy="4318000"/>
          </a:xfrm>
          <a:prstGeom prst="rect">
            <a:avLst/>
          </a:prstGeom>
          <a:noFill/>
          <a:ln/>
        </p:spPr>
        <p:txBody>
          <a:bodyPr wrap="square" lIns="0" tIns="0" rIns="0" bIns="0" rtlCol="0" anchor="t"/>
          <a:lstStyle/>
          <a:p>
            <a:pPr algn="just">
              <a:lnSpc>
                <a:spcPct val="156000"/>
              </a:lnSpc>
            </a:pPr>
            <a:r>
              <a:rPr lang="en-US" sz="2700" dirty="0">
                <a:solidFill>
                  <a:srgbClr val="000000"/>
                </a:solidFill>
                <a:latin typeface="Liter" pitchFamily="34" charset="0"/>
                <a:ea typeface="Liter" pitchFamily="34" charset="-122"/>
                <a:cs typeface="Liter" pitchFamily="34" charset="-120"/>
              </a:rPr>
              <a:t>The core programming language governing all application logic and functionality. Platform-independent, object-oriented, with robust library support.</a:t>
            </a:r>
            <a:endParaRPr lang="en-US" sz="2700" dirty="0"/>
          </a:p>
        </p:txBody>
      </p:sp>
    </p:spTree>
  </p:cSld>
  <p:clrMapOvr>
    <a:masterClrMapping/>
  </p:clrMapOvr>
  <p:transition>
    <p:fade/>
    <p:spd val="med"/>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gradFill rotWithShape="1" flip="none">
          <a:gsLst>
            <a:gs pos="0">
              <a:srgbClr val="C7E2FF"/>
            </a:gs>
            <a:gs pos="50000">
              <a:srgbClr val="EAF4FF"/>
            </a:gs>
            <a:gs pos="100000">
              <a:srgbClr val="FFFFFF"/>
            </a:gs>
          </a:gsLst>
          <a:lin ang="2700000" scaled="1"/>
        </a:gradFill>
      </p:bgPr>
    </p:bg>
    <p:spTree>
      <p:nvGrpSpPr>
        <p:cNvPr id="1" name=""/>
        <p:cNvGrpSpPr/>
        <p:nvPr/>
      </p:nvGrpSpPr>
      <p:grpSpPr>
        <a:xfrm>
          <a:off x="0" y="0"/>
          <a:ext cx="0" cy="0"/>
          <a:chOff x="0" y="0"/>
          <a:chExt cx="0" cy="0"/>
        </a:xfrm>
      </p:grpSpPr>
      <p:sp>
        <p:nvSpPr>
          <p:cNvPr id="2" name="Text 0"/>
          <p:cNvSpPr/>
          <p:nvPr/>
        </p:nvSpPr>
        <p:spPr>
          <a:xfrm>
            <a:off x="1244600" y="1282700"/>
            <a:ext cx="10363200" cy="2247900"/>
          </a:xfrm>
          <a:prstGeom prst="rect">
            <a:avLst/>
          </a:prstGeom>
          <a:noFill/>
          <a:ln/>
        </p:spPr>
        <p:txBody>
          <a:bodyPr wrap="square" lIns="0" tIns="0" rIns="0" bIns="0" rtlCol="0" anchor="t"/>
          <a:lstStyle/>
          <a:p>
            <a:pPr>
              <a:lnSpc>
                <a:spcPct val="124000"/>
              </a:lnSpc>
            </a:pPr>
            <a:r>
              <a:rPr lang="en-US" sz="6800" dirty="0">
                <a:solidFill>
                  <a:srgbClr val="000000"/>
                </a:solidFill>
                <a:latin typeface="QuattrocentoSans" pitchFamily="34" charset="0"/>
                <a:ea typeface="QuattrocentoSans" pitchFamily="34" charset="-122"/>
                <a:cs typeface="QuattrocentoSans" pitchFamily="34" charset="-120"/>
              </a:rPr>
              <a:t>JAVAFX UI COMPONENTS</a:t>
            </a:r>
            <a:endParaRPr lang="en-US" sz="6800" dirty="0"/>
          </a:p>
        </p:txBody>
      </p:sp>
      <p:sp>
        <p:nvSpPr>
          <p:cNvPr id="3" name="Shape 1"/>
          <p:cNvSpPr/>
          <p:nvPr/>
        </p:nvSpPr>
        <p:spPr>
          <a:xfrm>
            <a:off x="11264900" y="1574800"/>
            <a:ext cx="9779000" cy="0"/>
          </a:xfrm>
          <a:prstGeom prst="straightConnector1">
            <a:avLst/>
          </a:prstGeom>
          <a:noFill/>
          <a:ln w="9525">
            <a:solidFill>
              <a:srgbClr val="000000"/>
            </a:solidFill>
            <a:prstDash val="solid"/>
            <a:headEnd type="none"/>
            <a:tailEnd type="none"/>
          </a:ln>
        </p:spPr>
      </p:sp>
      <p:sp>
        <p:nvSpPr>
          <p:cNvPr id="4" name="Text 2"/>
          <p:cNvSpPr/>
          <p:nvPr/>
        </p:nvSpPr>
        <p:spPr>
          <a:xfrm>
            <a:off x="8242300" y="2565400"/>
            <a:ext cx="5842000" cy="825500"/>
          </a:xfrm>
          <a:prstGeom prst="rect">
            <a:avLst/>
          </a:prstGeom>
          <a:noFill/>
          <a:ln/>
        </p:spPr>
        <p:txBody>
          <a:bodyPr wrap="none" lIns="0" tIns="0" rIns="0" bIns="0" rtlCol="0" anchor="t"/>
          <a:lstStyle/>
          <a:p>
            <a:pPr>
              <a:lnSpc>
                <a:spcPct val="140000"/>
              </a:lnSpc>
            </a:pPr>
            <a:r>
              <a:rPr lang="en-US" sz="4100" dirty="0">
                <a:solidFill>
                  <a:srgbClr val="000000"/>
                </a:solidFill>
                <a:latin typeface="QuattrocentoSans" pitchFamily="34" charset="0"/>
                <a:ea typeface="QuattrocentoSans" pitchFamily="34" charset="-122"/>
                <a:cs typeface="QuattrocentoSans" pitchFamily="34" charset="-120"/>
              </a:rPr>
              <a:t>User Interface Classes</a:t>
            </a:r>
            <a:endParaRPr lang="en-US" sz="4100" dirty="0"/>
          </a:p>
        </p:txBody>
      </p:sp>
      <p:sp>
        <p:nvSpPr>
          <p:cNvPr id="5" name="Text 3"/>
          <p:cNvSpPr/>
          <p:nvPr/>
        </p:nvSpPr>
        <p:spPr>
          <a:xfrm>
            <a:off x="18161000" y="1244600"/>
            <a:ext cx="5207000" cy="635000"/>
          </a:xfrm>
          <a:prstGeom prst="rect">
            <a:avLst/>
          </a:prstGeom>
          <a:noFill/>
          <a:ln/>
        </p:spPr>
        <p:txBody>
          <a:bodyPr wrap="none" lIns="0" tIns="0" rIns="0" bIns="0" rtlCol="0" anchor="t"/>
          <a:lstStyle/>
          <a:p>
            <a:pPr algn="r">
              <a:lnSpc>
                <a:spcPct val="140000"/>
              </a:lnSpc>
            </a:pPr>
            <a:r>
              <a:rPr lang="en-US" sz="2900" spc="400" kern="0" dirty="0">
                <a:solidFill>
                  <a:srgbClr val="000000"/>
                </a:solidFill>
                <a:latin typeface="Liter" pitchFamily="34" charset="0"/>
                <a:ea typeface="Liter" pitchFamily="34" charset="-122"/>
                <a:cs typeface="Liter" pitchFamily="34" charset="-120"/>
              </a:rPr>
              <a:t>PART 03</a:t>
            </a:r>
            <a:endParaRPr lang="en-US" sz="2900" dirty="0"/>
          </a:p>
        </p:txBody>
      </p:sp>
      <p:sp>
        <p:nvSpPr>
          <p:cNvPr id="6" name="Shape 4"/>
          <p:cNvSpPr/>
          <p:nvPr/>
        </p:nvSpPr>
        <p:spPr>
          <a:xfrm rot="5400000">
            <a:off x="1346200" y="3835400"/>
            <a:ext cx="368300" cy="330200"/>
          </a:xfrm>
          <a:prstGeom prst="triangle">
            <a:avLst>
              <a:gd name="adj" fmla="val 50000"/>
            </a:avLst>
          </a:prstGeom>
          <a:solidFill>
            <a:srgbClr val="004AAD"/>
          </a:solidFill>
          <a:ln/>
        </p:spPr>
      </p:sp>
      <p:sp>
        <p:nvSpPr>
          <p:cNvPr id="7" name="Shape 5"/>
          <p:cNvSpPr/>
          <p:nvPr/>
        </p:nvSpPr>
        <p:spPr>
          <a:xfrm rot="5400000">
            <a:off x="1854200" y="3835400"/>
            <a:ext cx="368300" cy="330200"/>
          </a:xfrm>
          <a:prstGeom prst="triangle">
            <a:avLst>
              <a:gd name="adj" fmla="val 50000"/>
            </a:avLst>
          </a:prstGeom>
          <a:solidFill>
            <a:srgbClr val="004AAD"/>
          </a:solidFill>
          <a:ln/>
        </p:spPr>
      </p:sp>
      <p:sp>
        <p:nvSpPr>
          <p:cNvPr id="8" name="Shape 6"/>
          <p:cNvSpPr/>
          <p:nvPr/>
        </p:nvSpPr>
        <p:spPr>
          <a:xfrm rot="5400000">
            <a:off x="2349500" y="3835400"/>
            <a:ext cx="368300" cy="330200"/>
          </a:xfrm>
          <a:prstGeom prst="triangle">
            <a:avLst>
              <a:gd name="adj" fmla="val 50000"/>
            </a:avLst>
          </a:prstGeom>
          <a:solidFill>
            <a:srgbClr val="004AAD"/>
          </a:solidFill>
          <a:ln/>
        </p:spPr>
      </p:sp>
      <p:sp>
        <p:nvSpPr>
          <p:cNvPr id="9" name="Shape 7"/>
          <p:cNvSpPr/>
          <p:nvPr/>
        </p:nvSpPr>
        <p:spPr>
          <a:xfrm rot="5400000">
            <a:off x="2857500" y="3835400"/>
            <a:ext cx="368300" cy="330200"/>
          </a:xfrm>
          <a:prstGeom prst="triangle">
            <a:avLst>
              <a:gd name="adj" fmla="val 50000"/>
            </a:avLst>
          </a:prstGeom>
          <a:solidFill>
            <a:srgbClr val="004AAD"/>
          </a:solidFill>
          <a:ln/>
        </p:spPr>
      </p:sp>
      <p:sp>
        <p:nvSpPr>
          <p:cNvPr id="10" name="Shape 8"/>
          <p:cNvSpPr/>
          <p:nvPr/>
        </p:nvSpPr>
        <p:spPr>
          <a:xfrm rot="5400000">
            <a:off x="3352800" y="3835400"/>
            <a:ext cx="368300" cy="330200"/>
          </a:xfrm>
          <a:prstGeom prst="triangle">
            <a:avLst>
              <a:gd name="adj" fmla="val 50000"/>
            </a:avLst>
          </a:prstGeom>
          <a:solidFill>
            <a:srgbClr val="004AAD"/>
          </a:solidFill>
          <a:ln/>
        </p:spPr>
      </p:sp>
      <p:sp>
        <p:nvSpPr>
          <p:cNvPr id="11" name="Shape 9"/>
          <p:cNvSpPr/>
          <p:nvPr/>
        </p:nvSpPr>
        <p:spPr>
          <a:xfrm rot="5400000">
            <a:off x="3860800" y="3835400"/>
            <a:ext cx="368300" cy="330200"/>
          </a:xfrm>
          <a:prstGeom prst="triangle">
            <a:avLst>
              <a:gd name="adj" fmla="val 50000"/>
            </a:avLst>
          </a:prstGeom>
          <a:solidFill>
            <a:srgbClr val="004AAD"/>
          </a:solidFill>
          <a:ln/>
        </p:spPr>
      </p:sp>
      <p:sp>
        <p:nvSpPr>
          <p:cNvPr id="12" name="Shape 10"/>
          <p:cNvSpPr/>
          <p:nvPr/>
        </p:nvSpPr>
        <p:spPr>
          <a:xfrm>
            <a:off x="1371600" y="4826000"/>
            <a:ext cx="4787900" cy="863600"/>
          </a:xfrm>
          <a:prstGeom prst="rect">
            <a:avLst/>
          </a:prstGeom>
          <a:solidFill>
            <a:srgbClr val="7EC8E3"/>
          </a:solidFill>
          <a:ln/>
        </p:spPr>
      </p:sp>
      <p:sp>
        <p:nvSpPr>
          <p:cNvPr id="13" name="Shape 11"/>
          <p:cNvSpPr/>
          <p:nvPr/>
        </p:nvSpPr>
        <p:spPr>
          <a:xfrm>
            <a:off x="1371600" y="4826000"/>
            <a:ext cx="190500" cy="863600"/>
          </a:xfrm>
          <a:prstGeom prst="rect">
            <a:avLst/>
          </a:prstGeom>
          <a:solidFill>
            <a:srgbClr val="48B2FF"/>
          </a:solidFill>
          <a:ln/>
        </p:spPr>
      </p:sp>
      <p:sp>
        <p:nvSpPr>
          <p:cNvPr id="14" name="Text 12"/>
          <p:cNvSpPr/>
          <p:nvPr/>
        </p:nvSpPr>
        <p:spPr>
          <a:xfrm>
            <a:off x="1803400" y="4864100"/>
            <a:ext cx="4191000" cy="711200"/>
          </a:xfrm>
          <a:prstGeom prst="rect">
            <a:avLst/>
          </a:prstGeom>
          <a:noFill/>
          <a:ln/>
        </p:spPr>
        <p:txBody>
          <a:bodyPr wrap="none" lIns="0" tIns="0" rIns="0" bIns="0" rtlCol="0" anchor="t"/>
          <a:lstStyle/>
          <a:p>
            <a:pPr>
              <a:lnSpc>
                <a:spcPct val="140000"/>
              </a:lnSpc>
            </a:pPr>
            <a:r>
              <a:rPr lang="en-US" sz="3500" dirty="0">
                <a:solidFill>
                  <a:srgbClr val="000000"/>
                </a:solidFill>
                <a:latin typeface="QuattrocentoSans" pitchFamily="34" charset="0"/>
                <a:ea typeface="QuattrocentoSans" pitchFamily="34" charset="-122"/>
                <a:cs typeface="QuattrocentoSans" pitchFamily="34" charset="-120"/>
              </a:rPr>
              <a:t>Core Classes</a:t>
            </a:r>
            <a:endParaRPr lang="en-US" sz="3500" dirty="0"/>
          </a:p>
        </p:txBody>
      </p:sp>
      <p:sp>
        <p:nvSpPr>
          <p:cNvPr id="15" name="Text 13"/>
          <p:cNvSpPr/>
          <p:nvPr/>
        </p:nvSpPr>
        <p:spPr>
          <a:xfrm>
            <a:off x="1371600" y="6096000"/>
            <a:ext cx="762000" cy="711200"/>
          </a:xfrm>
          <a:prstGeom prst="rect">
            <a:avLst/>
          </a:prstGeom>
          <a:noFill/>
          <a:ln/>
        </p:spPr>
        <p:txBody>
          <a:bodyPr wrap="none" lIns="0" tIns="0" rIns="0" bIns="0" rtlCol="0" anchor="t"/>
          <a:lstStyle/>
          <a:p>
            <a:pPr algn="ctr">
              <a:lnSpc>
                <a:spcPct val="100000"/>
              </a:lnSpc>
            </a:pPr>
            <a:r>
              <a:rPr lang="en-US" sz="3500" dirty="0">
                <a:solidFill>
                  <a:srgbClr val="004AAD"/>
                </a:solidFill>
                <a:latin typeface="Quattrocento Sans" pitchFamily="34" charset="0"/>
                <a:ea typeface="Quattrocento Sans" pitchFamily="34" charset="-122"/>
                <a:cs typeface="Quattrocento Sans" pitchFamily="34" charset="-120"/>
              </a:rPr>
              <a:t>01</a:t>
            </a:r>
            <a:endParaRPr lang="en-US" sz="1600" dirty="0"/>
          </a:p>
        </p:txBody>
      </p:sp>
      <p:sp>
        <p:nvSpPr>
          <p:cNvPr id="16" name="Shape 14"/>
          <p:cNvSpPr/>
          <p:nvPr/>
        </p:nvSpPr>
        <p:spPr>
          <a:xfrm>
            <a:off x="2286000" y="6451600"/>
            <a:ext cx="508000" cy="0"/>
          </a:xfrm>
          <a:prstGeom prst="straightConnector1">
            <a:avLst/>
          </a:prstGeom>
          <a:noFill/>
          <a:ln w="38100">
            <a:solidFill>
              <a:srgbClr val="48B2FF"/>
            </a:solidFill>
            <a:prstDash val="solid"/>
            <a:headEnd type="none"/>
            <a:tailEnd type="none"/>
          </a:ln>
        </p:spPr>
      </p:sp>
      <p:sp>
        <p:nvSpPr>
          <p:cNvPr id="17" name="Text 15"/>
          <p:cNvSpPr/>
          <p:nvPr/>
        </p:nvSpPr>
        <p:spPr>
          <a:xfrm>
            <a:off x="2921000" y="6096000"/>
            <a:ext cx="4445000" cy="711200"/>
          </a:xfrm>
          <a:prstGeom prst="rect">
            <a:avLst/>
          </a:prstGeom>
          <a:noFill/>
          <a:ln/>
        </p:spPr>
        <p:txBody>
          <a:bodyPr wrap="none" lIns="0" tIns="0" rIns="0" bIns="0" rtlCol="0" anchor="t"/>
          <a:lstStyle/>
          <a:p>
            <a:pPr>
              <a:lnSpc>
                <a:spcPct val="100000"/>
              </a:lnSpc>
            </a:pPr>
            <a:r>
              <a:rPr lang="en-US" sz="3000" dirty="0">
                <a:solidFill>
                  <a:srgbClr val="000000"/>
                </a:solidFill>
                <a:latin typeface="Quattrocento Sans" pitchFamily="34" charset="0"/>
                <a:ea typeface="Quattrocento Sans" pitchFamily="34" charset="-122"/>
                <a:cs typeface="Quattrocento Sans" pitchFamily="34" charset="-120"/>
              </a:rPr>
              <a:t>Main.java</a:t>
            </a:r>
            <a:endParaRPr lang="en-US" sz="1600" dirty="0"/>
          </a:p>
        </p:txBody>
      </p:sp>
      <p:sp>
        <p:nvSpPr>
          <p:cNvPr id="18" name="Text 16"/>
          <p:cNvSpPr/>
          <p:nvPr/>
        </p:nvSpPr>
        <p:spPr>
          <a:xfrm>
            <a:off x="2921000" y="6807200"/>
            <a:ext cx="19812000" cy="825500"/>
          </a:xfrm>
          <a:prstGeom prst="rect">
            <a:avLst/>
          </a:prstGeom>
          <a:noFill/>
          <a:ln/>
        </p:spPr>
        <p:txBody>
          <a:bodyPr wrap="square" lIns="0" tIns="0" rIns="0" bIns="0" rtlCol="0" anchor="t"/>
          <a:lstStyle/>
          <a:p>
            <a:pPr algn="just">
              <a:lnSpc>
                <a:spcPct val="156000"/>
              </a:lnSpc>
            </a:pPr>
            <a:r>
              <a:rPr lang="en-US" sz="2700" dirty="0">
                <a:solidFill>
                  <a:srgbClr val="000000"/>
                </a:solidFill>
                <a:latin typeface="Liter" pitchFamily="34" charset="0"/>
                <a:ea typeface="Liter" pitchFamily="34" charset="-122"/>
                <a:cs typeface="Liter" pitchFamily="34" charset="-120"/>
              </a:rPr>
              <a:t>Application entry point extending javafx.application.Application. Initializes and launches the primary interface (MainFrame).</a:t>
            </a:r>
            <a:endParaRPr lang="en-US" sz="2700" dirty="0"/>
          </a:p>
        </p:txBody>
      </p:sp>
      <p:sp>
        <p:nvSpPr>
          <p:cNvPr id="19" name="Text 17"/>
          <p:cNvSpPr/>
          <p:nvPr/>
        </p:nvSpPr>
        <p:spPr>
          <a:xfrm>
            <a:off x="1371600" y="7874000"/>
            <a:ext cx="889000" cy="711200"/>
          </a:xfrm>
          <a:prstGeom prst="rect">
            <a:avLst/>
          </a:prstGeom>
          <a:noFill/>
          <a:ln/>
        </p:spPr>
        <p:txBody>
          <a:bodyPr wrap="none" lIns="0" tIns="0" rIns="0" bIns="0" rtlCol="0" anchor="t"/>
          <a:lstStyle/>
          <a:p>
            <a:pPr algn="ctr">
              <a:lnSpc>
                <a:spcPct val="100000"/>
              </a:lnSpc>
            </a:pPr>
            <a:r>
              <a:rPr lang="en-US" sz="3500" dirty="0">
                <a:solidFill>
                  <a:srgbClr val="004AAD"/>
                </a:solidFill>
                <a:latin typeface="Quattrocento Sans" pitchFamily="34" charset="0"/>
                <a:ea typeface="Quattrocento Sans" pitchFamily="34" charset="-122"/>
                <a:cs typeface="Quattrocento Sans" pitchFamily="34" charset="-120"/>
              </a:rPr>
              <a:t>02</a:t>
            </a:r>
            <a:endParaRPr lang="en-US" sz="1600" dirty="0"/>
          </a:p>
        </p:txBody>
      </p:sp>
      <p:sp>
        <p:nvSpPr>
          <p:cNvPr id="20" name="Shape 18"/>
          <p:cNvSpPr/>
          <p:nvPr/>
        </p:nvSpPr>
        <p:spPr>
          <a:xfrm>
            <a:off x="2286000" y="8229600"/>
            <a:ext cx="508000" cy="0"/>
          </a:xfrm>
          <a:prstGeom prst="straightConnector1">
            <a:avLst/>
          </a:prstGeom>
          <a:noFill/>
          <a:ln w="38100">
            <a:solidFill>
              <a:srgbClr val="48B2FF"/>
            </a:solidFill>
            <a:prstDash val="solid"/>
            <a:headEnd type="none"/>
            <a:tailEnd type="none"/>
          </a:ln>
        </p:spPr>
      </p:sp>
      <p:sp>
        <p:nvSpPr>
          <p:cNvPr id="21" name="Text 19"/>
          <p:cNvSpPr/>
          <p:nvPr/>
        </p:nvSpPr>
        <p:spPr>
          <a:xfrm>
            <a:off x="2921000" y="7874000"/>
            <a:ext cx="4445000" cy="711200"/>
          </a:xfrm>
          <a:prstGeom prst="rect">
            <a:avLst/>
          </a:prstGeom>
          <a:noFill/>
          <a:ln/>
        </p:spPr>
        <p:txBody>
          <a:bodyPr wrap="none" lIns="0" tIns="0" rIns="0" bIns="0" rtlCol="0" anchor="t"/>
          <a:lstStyle/>
          <a:p>
            <a:pPr>
              <a:lnSpc>
                <a:spcPct val="100000"/>
              </a:lnSpc>
            </a:pPr>
            <a:r>
              <a:rPr lang="en-US" sz="3000" dirty="0">
                <a:solidFill>
                  <a:srgbClr val="000000"/>
                </a:solidFill>
                <a:latin typeface="Quattrocento Sans" pitchFamily="34" charset="0"/>
                <a:ea typeface="Quattrocento Sans" pitchFamily="34" charset="-122"/>
                <a:cs typeface="Quattrocento Sans" pitchFamily="34" charset="-120"/>
              </a:rPr>
              <a:t>MainFrame.java</a:t>
            </a:r>
            <a:endParaRPr lang="en-US" sz="1600" dirty="0"/>
          </a:p>
        </p:txBody>
      </p:sp>
      <p:sp>
        <p:nvSpPr>
          <p:cNvPr id="22" name="Text 20"/>
          <p:cNvSpPr/>
          <p:nvPr/>
        </p:nvSpPr>
        <p:spPr>
          <a:xfrm>
            <a:off x="2921000" y="8585200"/>
            <a:ext cx="19812000" cy="825500"/>
          </a:xfrm>
          <a:prstGeom prst="rect">
            <a:avLst/>
          </a:prstGeom>
          <a:noFill/>
          <a:ln/>
        </p:spPr>
        <p:txBody>
          <a:bodyPr wrap="square" lIns="0" tIns="0" rIns="0" bIns="0" rtlCol="0" anchor="t"/>
          <a:lstStyle/>
          <a:p>
            <a:pPr algn="just">
              <a:lnSpc>
                <a:spcPct val="156000"/>
              </a:lnSpc>
            </a:pPr>
            <a:r>
              <a:rPr lang="en-US" sz="2700" dirty="0">
                <a:solidFill>
                  <a:srgbClr val="000000"/>
                </a:solidFill>
                <a:latin typeface="Liter" pitchFamily="34" charset="0"/>
                <a:ea typeface="Liter" pitchFamily="34" charset="-122"/>
                <a:cs typeface="Liter" pitchFamily="34" charset="-120"/>
              </a:rPr>
              <a:t>Serves as the initial screen or main menu, handling application flow and navigation between different game screens.</a:t>
            </a:r>
            <a:endParaRPr lang="en-US" sz="2700" dirty="0"/>
          </a:p>
        </p:txBody>
      </p:sp>
      <p:sp>
        <p:nvSpPr>
          <p:cNvPr id="23" name="Text 21"/>
          <p:cNvSpPr/>
          <p:nvPr/>
        </p:nvSpPr>
        <p:spPr>
          <a:xfrm>
            <a:off x="1371600" y="9652000"/>
            <a:ext cx="889000" cy="711200"/>
          </a:xfrm>
          <a:prstGeom prst="rect">
            <a:avLst/>
          </a:prstGeom>
          <a:noFill/>
          <a:ln/>
        </p:spPr>
        <p:txBody>
          <a:bodyPr wrap="none" lIns="0" tIns="0" rIns="0" bIns="0" rtlCol="0" anchor="t"/>
          <a:lstStyle/>
          <a:p>
            <a:pPr algn="ctr">
              <a:lnSpc>
                <a:spcPct val="100000"/>
              </a:lnSpc>
            </a:pPr>
            <a:r>
              <a:rPr lang="en-US" sz="3500" dirty="0">
                <a:solidFill>
                  <a:srgbClr val="004AAD"/>
                </a:solidFill>
                <a:latin typeface="Quattrocento Sans" pitchFamily="34" charset="0"/>
                <a:ea typeface="Quattrocento Sans" pitchFamily="34" charset="-122"/>
                <a:cs typeface="Quattrocento Sans" pitchFamily="34" charset="-120"/>
              </a:rPr>
              <a:t>03</a:t>
            </a:r>
            <a:endParaRPr lang="en-US" sz="1600" dirty="0"/>
          </a:p>
        </p:txBody>
      </p:sp>
      <p:sp>
        <p:nvSpPr>
          <p:cNvPr id="24" name="Shape 22"/>
          <p:cNvSpPr/>
          <p:nvPr/>
        </p:nvSpPr>
        <p:spPr>
          <a:xfrm>
            <a:off x="2286000" y="10007600"/>
            <a:ext cx="508000" cy="0"/>
          </a:xfrm>
          <a:prstGeom prst="straightConnector1">
            <a:avLst/>
          </a:prstGeom>
          <a:noFill/>
          <a:ln w="38100">
            <a:solidFill>
              <a:srgbClr val="48B2FF"/>
            </a:solidFill>
            <a:prstDash val="solid"/>
            <a:headEnd type="none"/>
            <a:tailEnd type="none"/>
          </a:ln>
        </p:spPr>
      </p:sp>
      <p:sp>
        <p:nvSpPr>
          <p:cNvPr id="25" name="Text 23"/>
          <p:cNvSpPr/>
          <p:nvPr/>
        </p:nvSpPr>
        <p:spPr>
          <a:xfrm>
            <a:off x="2921000" y="9652000"/>
            <a:ext cx="4445000" cy="711200"/>
          </a:xfrm>
          <a:prstGeom prst="rect">
            <a:avLst/>
          </a:prstGeom>
          <a:noFill/>
          <a:ln/>
        </p:spPr>
        <p:txBody>
          <a:bodyPr wrap="none" lIns="0" tIns="0" rIns="0" bIns="0" rtlCol="0" anchor="t"/>
          <a:lstStyle/>
          <a:p>
            <a:pPr>
              <a:lnSpc>
                <a:spcPct val="100000"/>
              </a:lnSpc>
            </a:pPr>
            <a:r>
              <a:rPr lang="en-US" sz="3000" dirty="0">
                <a:solidFill>
                  <a:srgbClr val="000000"/>
                </a:solidFill>
                <a:latin typeface="Quattrocento Sans" pitchFamily="34" charset="0"/>
                <a:ea typeface="Quattrocento Sans" pitchFamily="34" charset="-122"/>
                <a:cs typeface="Quattrocento Sans" pitchFamily="34" charset="-120"/>
              </a:rPr>
              <a:t>LevelsFrame.java</a:t>
            </a:r>
            <a:endParaRPr lang="en-US" sz="1600" dirty="0"/>
          </a:p>
        </p:txBody>
      </p:sp>
      <p:sp>
        <p:nvSpPr>
          <p:cNvPr id="26" name="Text 24"/>
          <p:cNvSpPr/>
          <p:nvPr/>
        </p:nvSpPr>
        <p:spPr>
          <a:xfrm>
            <a:off x="2921000" y="10363200"/>
            <a:ext cx="19812000" cy="825500"/>
          </a:xfrm>
          <a:prstGeom prst="rect">
            <a:avLst/>
          </a:prstGeom>
          <a:noFill/>
          <a:ln/>
        </p:spPr>
        <p:txBody>
          <a:bodyPr wrap="square" lIns="0" tIns="0" rIns="0" bIns="0" rtlCol="0" anchor="t"/>
          <a:lstStyle/>
          <a:p>
            <a:pPr algn="just">
              <a:lnSpc>
                <a:spcPct val="156000"/>
              </a:lnSpc>
            </a:pPr>
            <a:r>
              <a:rPr lang="en-US" sz="2700" dirty="0">
                <a:solidFill>
                  <a:srgbClr val="000000"/>
                </a:solidFill>
                <a:latin typeface="Liter" pitchFamily="34" charset="0"/>
                <a:ea typeface="Liter" pitchFamily="34" charset="-122"/>
                <a:cs typeface="Liter" pitchFamily="34" charset="-120"/>
              </a:rPr>
              <a:t>Manages the display and selection of available game levels, showing player progress and unlocked stages.</a:t>
            </a:r>
            <a:endParaRPr lang="en-US" sz="2700" dirty="0"/>
          </a:p>
        </p:txBody>
      </p:sp>
      <p:sp>
        <p:nvSpPr>
          <p:cNvPr id="27" name="Text 25"/>
          <p:cNvSpPr/>
          <p:nvPr/>
        </p:nvSpPr>
        <p:spPr>
          <a:xfrm>
            <a:off x="1371600" y="11430000"/>
            <a:ext cx="889000" cy="711200"/>
          </a:xfrm>
          <a:prstGeom prst="rect">
            <a:avLst/>
          </a:prstGeom>
          <a:noFill/>
          <a:ln/>
        </p:spPr>
        <p:txBody>
          <a:bodyPr wrap="none" lIns="0" tIns="0" rIns="0" bIns="0" rtlCol="0" anchor="t"/>
          <a:lstStyle/>
          <a:p>
            <a:pPr algn="ctr">
              <a:lnSpc>
                <a:spcPct val="100000"/>
              </a:lnSpc>
            </a:pPr>
            <a:r>
              <a:rPr lang="en-US" sz="3500" dirty="0">
                <a:solidFill>
                  <a:srgbClr val="004AAD"/>
                </a:solidFill>
                <a:latin typeface="Quattrocento Sans" pitchFamily="34" charset="0"/>
                <a:ea typeface="Quattrocento Sans" pitchFamily="34" charset="-122"/>
                <a:cs typeface="Quattrocento Sans" pitchFamily="34" charset="-120"/>
              </a:rPr>
              <a:t>04</a:t>
            </a:r>
            <a:endParaRPr lang="en-US" sz="1600" dirty="0"/>
          </a:p>
        </p:txBody>
      </p:sp>
      <p:sp>
        <p:nvSpPr>
          <p:cNvPr id="28" name="Shape 26"/>
          <p:cNvSpPr/>
          <p:nvPr/>
        </p:nvSpPr>
        <p:spPr>
          <a:xfrm>
            <a:off x="2286000" y="11785600"/>
            <a:ext cx="508000" cy="0"/>
          </a:xfrm>
          <a:prstGeom prst="straightConnector1">
            <a:avLst/>
          </a:prstGeom>
          <a:noFill/>
          <a:ln w="38100">
            <a:solidFill>
              <a:srgbClr val="48B2FF"/>
            </a:solidFill>
            <a:prstDash val="solid"/>
            <a:headEnd type="none"/>
            <a:tailEnd type="none"/>
          </a:ln>
        </p:spPr>
      </p:sp>
      <p:sp>
        <p:nvSpPr>
          <p:cNvPr id="29" name="Text 27"/>
          <p:cNvSpPr/>
          <p:nvPr/>
        </p:nvSpPr>
        <p:spPr>
          <a:xfrm>
            <a:off x="2921000" y="11430000"/>
            <a:ext cx="4445000" cy="711200"/>
          </a:xfrm>
          <a:prstGeom prst="rect">
            <a:avLst/>
          </a:prstGeom>
          <a:noFill/>
          <a:ln/>
        </p:spPr>
        <p:txBody>
          <a:bodyPr wrap="none" lIns="0" tIns="0" rIns="0" bIns="0" rtlCol="0" anchor="t"/>
          <a:lstStyle/>
          <a:p>
            <a:pPr>
              <a:lnSpc>
                <a:spcPct val="100000"/>
              </a:lnSpc>
            </a:pPr>
            <a:r>
              <a:rPr lang="en-US" sz="3000" dirty="0">
                <a:solidFill>
                  <a:srgbClr val="000000"/>
                </a:solidFill>
                <a:latin typeface="Quattrocento Sans" pitchFamily="34" charset="0"/>
                <a:ea typeface="Quattrocento Sans" pitchFamily="34" charset="-122"/>
                <a:cs typeface="Quattrocento Sans" pitchFamily="34" charset="-120"/>
              </a:rPr>
              <a:t>PlayFrame.java</a:t>
            </a:r>
            <a:endParaRPr lang="en-US" sz="1600" dirty="0"/>
          </a:p>
        </p:txBody>
      </p:sp>
      <p:sp>
        <p:nvSpPr>
          <p:cNvPr id="30" name="Text 28"/>
          <p:cNvSpPr/>
          <p:nvPr/>
        </p:nvSpPr>
        <p:spPr>
          <a:xfrm>
            <a:off x="2921000" y="12141200"/>
            <a:ext cx="19812000" cy="825500"/>
          </a:xfrm>
          <a:prstGeom prst="rect">
            <a:avLst/>
          </a:prstGeom>
          <a:noFill/>
          <a:ln/>
        </p:spPr>
        <p:txBody>
          <a:bodyPr wrap="square" lIns="0" tIns="0" rIns="0" bIns="0" rtlCol="0" anchor="t"/>
          <a:lstStyle/>
          <a:p>
            <a:pPr algn="just">
              <a:lnSpc>
                <a:spcPct val="156000"/>
              </a:lnSpc>
            </a:pPr>
            <a:r>
              <a:rPr lang="en-US" sz="2700" dirty="0">
                <a:solidFill>
                  <a:srgbClr val="000000"/>
                </a:solidFill>
                <a:latin typeface="Liter" pitchFamily="34" charset="0"/>
                <a:ea typeface="Liter" pitchFamily="34" charset="-122"/>
                <a:cs typeface="Liter" pitchFamily="34" charset="-120"/>
              </a:rPr>
              <a:t>The central game screen where users actively interact with the film guessing mechanism, input answers, and utilise hints.</a:t>
            </a:r>
            <a:endParaRPr lang="en-US" sz="2700" dirty="0"/>
          </a:p>
        </p:txBody>
      </p:sp>
    </p:spTree>
  </p:cSld>
  <p:clrMapOvr>
    <a:masterClrMapping/>
  </p:clrMapOvr>
  <p:transition>
    <p:fade/>
    <p:spd val="med"/>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gradFill rotWithShape="1" flip="none">
          <a:gsLst>
            <a:gs pos="0">
              <a:srgbClr val="C7E2FF"/>
            </a:gs>
            <a:gs pos="50000">
              <a:srgbClr val="EAF4FF"/>
            </a:gs>
            <a:gs pos="100000">
              <a:srgbClr val="FFFFFF"/>
            </a:gs>
          </a:gsLst>
          <a:lin ang="2700000" scaled="1"/>
        </a:gradFill>
      </p:bgPr>
    </p:bg>
    <p:spTree>
      <p:nvGrpSpPr>
        <p:cNvPr id="1" name=""/>
        <p:cNvGrpSpPr/>
        <p:nvPr/>
      </p:nvGrpSpPr>
      <p:grpSpPr>
        <a:xfrm>
          <a:off x="0" y="0"/>
          <a:ext cx="0" cy="0"/>
          <a:chOff x="0" y="0"/>
          <a:chExt cx="0" cy="0"/>
        </a:xfrm>
      </p:grpSpPr>
      <p:sp>
        <p:nvSpPr>
          <p:cNvPr id="2" name="Text 0"/>
          <p:cNvSpPr/>
          <p:nvPr/>
        </p:nvSpPr>
        <p:spPr>
          <a:xfrm>
            <a:off x="1244600" y="1282700"/>
            <a:ext cx="9232900" cy="3314700"/>
          </a:xfrm>
          <a:prstGeom prst="rect">
            <a:avLst/>
          </a:prstGeom>
          <a:noFill/>
          <a:ln/>
        </p:spPr>
        <p:txBody>
          <a:bodyPr wrap="square" lIns="0" tIns="0" rIns="0" bIns="0" rtlCol="0" anchor="t"/>
          <a:lstStyle/>
          <a:p>
            <a:pPr>
              <a:lnSpc>
                <a:spcPct val="124000"/>
              </a:lnSpc>
            </a:pPr>
            <a:r>
              <a:rPr lang="en-US" sz="6800" dirty="0">
                <a:solidFill>
                  <a:srgbClr val="000000"/>
                </a:solidFill>
                <a:latin typeface="QuattrocentoSans" pitchFamily="34" charset="0"/>
                <a:ea typeface="QuattrocentoSans" pitchFamily="34" charset="-122"/>
                <a:cs typeface="QuattrocentoSans" pitchFamily="34" charset="-120"/>
              </a:rPr>
              <a:t>DATABASE INTEGRATION</a:t>
            </a:r>
            <a:endParaRPr lang="en-US" sz="6800" dirty="0"/>
          </a:p>
        </p:txBody>
      </p:sp>
      <p:sp>
        <p:nvSpPr>
          <p:cNvPr id="3" name="Shape 1"/>
          <p:cNvSpPr/>
          <p:nvPr/>
        </p:nvSpPr>
        <p:spPr>
          <a:xfrm>
            <a:off x="8521700" y="1574800"/>
            <a:ext cx="12522200" cy="0"/>
          </a:xfrm>
          <a:prstGeom prst="straightConnector1">
            <a:avLst/>
          </a:prstGeom>
          <a:noFill/>
          <a:ln w="9525">
            <a:solidFill>
              <a:srgbClr val="000000"/>
            </a:solidFill>
            <a:prstDash val="solid"/>
            <a:headEnd type="none"/>
            <a:tailEnd type="none"/>
          </a:ln>
        </p:spPr>
      </p:sp>
      <p:sp>
        <p:nvSpPr>
          <p:cNvPr id="4" name="Text 2"/>
          <p:cNvSpPr/>
          <p:nvPr/>
        </p:nvSpPr>
        <p:spPr>
          <a:xfrm>
            <a:off x="6477000" y="3657600"/>
            <a:ext cx="5842000" cy="825500"/>
          </a:xfrm>
          <a:prstGeom prst="rect">
            <a:avLst/>
          </a:prstGeom>
          <a:noFill/>
          <a:ln/>
        </p:spPr>
        <p:txBody>
          <a:bodyPr wrap="none" lIns="0" tIns="0" rIns="0" bIns="0" rtlCol="0" anchor="t"/>
          <a:lstStyle/>
          <a:p>
            <a:pPr>
              <a:lnSpc>
                <a:spcPct val="140000"/>
              </a:lnSpc>
            </a:pPr>
            <a:r>
              <a:rPr lang="en-US" sz="4100" dirty="0">
                <a:solidFill>
                  <a:srgbClr val="000000"/>
                </a:solidFill>
                <a:latin typeface="QuattrocentoSans" pitchFamily="34" charset="0"/>
                <a:ea typeface="QuattrocentoSans" pitchFamily="34" charset="-122"/>
                <a:cs typeface="QuattrocentoSans" pitchFamily="34" charset="-120"/>
              </a:rPr>
              <a:t>Data Persistence Layer</a:t>
            </a:r>
            <a:endParaRPr lang="en-US" sz="4100" dirty="0"/>
          </a:p>
        </p:txBody>
      </p:sp>
      <p:sp>
        <p:nvSpPr>
          <p:cNvPr id="5" name="Text 3"/>
          <p:cNvSpPr/>
          <p:nvPr/>
        </p:nvSpPr>
        <p:spPr>
          <a:xfrm>
            <a:off x="18161000" y="1244600"/>
            <a:ext cx="5207000" cy="635000"/>
          </a:xfrm>
          <a:prstGeom prst="rect">
            <a:avLst/>
          </a:prstGeom>
          <a:noFill/>
          <a:ln/>
        </p:spPr>
        <p:txBody>
          <a:bodyPr wrap="none" lIns="0" tIns="0" rIns="0" bIns="0" rtlCol="0" anchor="t"/>
          <a:lstStyle/>
          <a:p>
            <a:pPr algn="r">
              <a:lnSpc>
                <a:spcPct val="140000"/>
              </a:lnSpc>
            </a:pPr>
            <a:r>
              <a:rPr lang="en-US" sz="2900" spc="400" kern="0" dirty="0">
                <a:solidFill>
                  <a:srgbClr val="000000"/>
                </a:solidFill>
                <a:latin typeface="Liter" pitchFamily="34" charset="0"/>
                <a:ea typeface="Liter" pitchFamily="34" charset="-122"/>
                <a:cs typeface="Liter" pitchFamily="34" charset="-120"/>
              </a:rPr>
              <a:t>PART 03</a:t>
            </a:r>
            <a:endParaRPr lang="en-US" sz="2900" dirty="0"/>
          </a:p>
        </p:txBody>
      </p:sp>
      <p:sp>
        <p:nvSpPr>
          <p:cNvPr id="6" name="Shape 4"/>
          <p:cNvSpPr/>
          <p:nvPr/>
        </p:nvSpPr>
        <p:spPr>
          <a:xfrm rot="5400000">
            <a:off x="1346200" y="4787900"/>
            <a:ext cx="368300" cy="330200"/>
          </a:xfrm>
          <a:prstGeom prst="triangle">
            <a:avLst>
              <a:gd name="adj" fmla="val 50000"/>
            </a:avLst>
          </a:prstGeom>
          <a:solidFill>
            <a:srgbClr val="004AAD"/>
          </a:solidFill>
          <a:ln/>
        </p:spPr>
      </p:sp>
      <p:sp>
        <p:nvSpPr>
          <p:cNvPr id="7" name="Shape 5"/>
          <p:cNvSpPr/>
          <p:nvPr/>
        </p:nvSpPr>
        <p:spPr>
          <a:xfrm rot="5400000">
            <a:off x="1854200" y="4787900"/>
            <a:ext cx="368300" cy="330200"/>
          </a:xfrm>
          <a:prstGeom prst="triangle">
            <a:avLst>
              <a:gd name="adj" fmla="val 50000"/>
            </a:avLst>
          </a:prstGeom>
          <a:solidFill>
            <a:srgbClr val="004AAD"/>
          </a:solidFill>
          <a:ln/>
        </p:spPr>
      </p:sp>
      <p:sp>
        <p:nvSpPr>
          <p:cNvPr id="8" name="Shape 6"/>
          <p:cNvSpPr/>
          <p:nvPr/>
        </p:nvSpPr>
        <p:spPr>
          <a:xfrm rot="5400000">
            <a:off x="2349500" y="4787900"/>
            <a:ext cx="368300" cy="330200"/>
          </a:xfrm>
          <a:prstGeom prst="triangle">
            <a:avLst>
              <a:gd name="adj" fmla="val 50000"/>
            </a:avLst>
          </a:prstGeom>
          <a:solidFill>
            <a:srgbClr val="004AAD"/>
          </a:solidFill>
          <a:ln/>
        </p:spPr>
      </p:sp>
      <p:sp>
        <p:nvSpPr>
          <p:cNvPr id="9" name="Shape 7"/>
          <p:cNvSpPr/>
          <p:nvPr/>
        </p:nvSpPr>
        <p:spPr>
          <a:xfrm rot="5400000">
            <a:off x="2857500" y="4787900"/>
            <a:ext cx="368300" cy="330200"/>
          </a:xfrm>
          <a:prstGeom prst="triangle">
            <a:avLst>
              <a:gd name="adj" fmla="val 50000"/>
            </a:avLst>
          </a:prstGeom>
          <a:solidFill>
            <a:srgbClr val="004AAD"/>
          </a:solidFill>
          <a:ln/>
        </p:spPr>
      </p:sp>
      <p:sp>
        <p:nvSpPr>
          <p:cNvPr id="10" name="Shape 8"/>
          <p:cNvSpPr/>
          <p:nvPr/>
        </p:nvSpPr>
        <p:spPr>
          <a:xfrm rot="5400000">
            <a:off x="3352800" y="4787900"/>
            <a:ext cx="368300" cy="330200"/>
          </a:xfrm>
          <a:prstGeom prst="triangle">
            <a:avLst>
              <a:gd name="adj" fmla="val 50000"/>
            </a:avLst>
          </a:prstGeom>
          <a:solidFill>
            <a:srgbClr val="004AAD"/>
          </a:solidFill>
          <a:ln/>
        </p:spPr>
      </p:sp>
      <p:sp>
        <p:nvSpPr>
          <p:cNvPr id="11" name="Shape 9"/>
          <p:cNvSpPr/>
          <p:nvPr/>
        </p:nvSpPr>
        <p:spPr>
          <a:xfrm rot="5400000">
            <a:off x="3860800" y="4787900"/>
            <a:ext cx="368300" cy="330200"/>
          </a:xfrm>
          <a:prstGeom prst="triangle">
            <a:avLst>
              <a:gd name="adj" fmla="val 50000"/>
            </a:avLst>
          </a:prstGeom>
          <a:solidFill>
            <a:srgbClr val="004AAD"/>
          </a:solidFill>
          <a:ln/>
        </p:spPr>
      </p:sp>
      <p:sp>
        <p:nvSpPr>
          <p:cNvPr id="12" name="Shape 10"/>
          <p:cNvSpPr/>
          <p:nvPr/>
        </p:nvSpPr>
        <p:spPr>
          <a:xfrm>
            <a:off x="1371600" y="5981700"/>
            <a:ext cx="6731000" cy="863600"/>
          </a:xfrm>
          <a:prstGeom prst="rect">
            <a:avLst/>
          </a:prstGeom>
          <a:solidFill>
            <a:srgbClr val="7EC8E3"/>
          </a:solidFill>
          <a:ln/>
        </p:spPr>
      </p:sp>
      <p:sp>
        <p:nvSpPr>
          <p:cNvPr id="13" name="Shape 11"/>
          <p:cNvSpPr/>
          <p:nvPr/>
        </p:nvSpPr>
        <p:spPr>
          <a:xfrm>
            <a:off x="1371600" y="5981700"/>
            <a:ext cx="190500" cy="863600"/>
          </a:xfrm>
          <a:prstGeom prst="rect">
            <a:avLst/>
          </a:prstGeom>
          <a:solidFill>
            <a:srgbClr val="48B2FF"/>
          </a:solidFill>
          <a:ln/>
        </p:spPr>
      </p:sp>
      <p:sp>
        <p:nvSpPr>
          <p:cNvPr id="14" name="Text 12"/>
          <p:cNvSpPr/>
          <p:nvPr/>
        </p:nvSpPr>
        <p:spPr>
          <a:xfrm>
            <a:off x="1803400" y="6032500"/>
            <a:ext cx="6096000" cy="711200"/>
          </a:xfrm>
          <a:prstGeom prst="rect">
            <a:avLst/>
          </a:prstGeom>
          <a:noFill/>
          <a:ln/>
        </p:spPr>
        <p:txBody>
          <a:bodyPr wrap="none" lIns="0" tIns="0" rIns="0" bIns="0" rtlCol="0" anchor="t"/>
          <a:lstStyle/>
          <a:p>
            <a:pPr>
              <a:lnSpc>
                <a:spcPct val="140000"/>
              </a:lnSpc>
            </a:pPr>
            <a:r>
              <a:rPr lang="en-US" sz="3500" dirty="0">
                <a:solidFill>
                  <a:srgbClr val="000000"/>
                </a:solidFill>
                <a:latin typeface="QuattrocentoSans" pitchFamily="34" charset="0"/>
                <a:ea typeface="QuattrocentoSans" pitchFamily="34" charset="-122"/>
                <a:cs typeface="QuattrocentoSans" pitchFamily="34" charset="-120"/>
              </a:rPr>
              <a:t>ManageDataBase Package</a:t>
            </a:r>
            <a:endParaRPr lang="en-US" sz="3500" dirty="0"/>
          </a:p>
        </p:txBody>
      </p:sp>
      <p:sp>
        <p:nvSpPr>
          <p:cNvPr id="15" name="Text 13"/>
          <p:cNvSpPr/>
          <p:nvPr/>
        </p:nvSpPr>
        <p:spPr>
          <a:xfrm>
            <a:off x="1244600" y="7099300"/>
            <a:ext cx="9804400" cy="3556000"/>
          </a:xfrm>
          <a:prstGeom prst="rect">
            <a:avLst/>
          </a:prstGeom>
          <a:noFill/>
          <a:ln/>
        </p:spPr>
        <p:txBody>
          <a:bodyPr wrap="square" lIns="0" tIns="0" rIns="0" bIns="0" rtlCol="0" anchor="t"/>
          <a:lstStyle/>
          <a:p>
            <a:pPr algn="just">
              <a:lnSpc>
                <a:spcPct val="156000"/>
              </a:lnSpc>
            </a:pPr>
            <a:r>
              <a:rPr lang="en-US" sz="2700" dirty="0">
                <a:solidFill>
                  <a:srgbClr val="000000"/>
                </a:solidFill>
                <a:latin typeface="Liter" pitchFamily="34" charset="0"/>
                <a:ea typeface="Liter" pitchFamily="34" charset="-122"/>
                <a:cs typeface="Liter" pitchFamily="34" charset="-120"/>
              </a:rPr>
              <a:t>The database package contains crucial classes that abstract data persistence complexity. DataBaseConnection.java establishes the MySQL connection using the JDBC driver with the connection string for localhost access.</a:t>
            </a:r>
            <a:endParaRPr lang="en-US" sz="2700" dirty="0"/>
          </a:p>
        </p:txBody>
      </p:sp>
      <p:sp>
        <p:nvSpPr>
          <p:cNvPr id="16" name="Text 14"/>
          <p:cNvSpPr/>
          <p:nvPr/>
        </p:nvSpPr>
        <p:spPr>
          <a:xfrm>
            <a:off x="1244600" y="10922000"/>
            <a:ext cx="9804400" cy="635000"/>
          </a:xfrm>
          <a:prstGeom prst="rect">
            <a:avLst/>
          </a:prstGeom>
          <a:noFill/>
          <a:ln/>
        </p:spPr>
        <p:txBody>
          <a:bodyPr wrap="none" lIns="0" tIns="0" rIns="0" bIns="0" rtlCol="0" anchor="ctr"/>
          <a:lstStyle/>
          <a:p>
            <a:pPr>
              <a:lnSpc>
                <a:spcPct val="100000"/>
              </a:lnSpc>
            </a:pPr>
            <a:r>
              <a:rPr lang="en-US" sz="2800" dirty="0">
                <a:solidFill>
                  <a:srgbClr val="004AAD"/>
                </a:solidFill>
                <a:latin typeface="Quattrocento Sans" pitchFamily="34" charset="0"/>
                <a:ea typeface="Quattrocento Sans" pitchFamily="34" charset="-122"/>
                <a:cs typeface="Quattrocento Sans" pitchFamily="34" charset="-120"/>
              </a:rPr>
              <a:t>Key Database Tables</a:t>
            </a:r>
            <a:endParaRPr lang="en-US" sz="1600" dirty="0"/>
          </a:p>
        </p:txBody>
      </p:sp>
      <p:sp>
        <p:nvSpPr>
          <p:cNvPr id="17" name="Text 15"/>
          <p:cNvSpPr/>
          <p:nvPr/>
        </p:nvSpPr>
        <p:spPr>
          <a:xfrm>
            <a:off x="1244600" y="11684000"/>
            <a:ext cx="9804400" cy="1841500"/>
          </a:xfrm>
          <a:prstGeom prst="rect">
            <a:avLst/>
          </a:prstGeom>
          <a:noFill/>
          <a:ln/>
        </p:spPr>
        <p:txBody>
          <a:bodyPr wrap="square" lIns="0" tIns="0" rIns="0" bIns="0" rtlCol="0" anchor="t"/>
          <a:lstStyle/>
          <a:p>
            <a:pPr>
              <a:lnSpc>
                <a:spcPct val="160000"/>
              </a:lnSpc>
            </a:pPr>
            <a:r>
              <a:rPr lang="en-US" sz="2400" b="1" dirty="0">
                <a:solidFill>
                  <a:srgbClr val="000000"/>
                </a:solidFill>
                <a:latin typeface="Liter" pitchFamily="34" charset="0"/>
                <a:ea typeface="Liter" pitchFamily="34" charset="-122"/>
                <a:cs typeface="Liter" pitchFamily="34" charset="-120"/>
              </a:rPr>
              <a:t>film_actors</a:t>
            </a:r>
            <a:pPr>
              <a:lnSpc>
                <a:spcPct val="160000"/>
              </a:lnSpc>
            </a:pPr>
            <a:r>
              <a:rPr lang="en-US" sz="2400" dirty="0">
                <a:solidFill>
                  <a:srgbClr val="000000"/>
                </a:solidFill>
                <a:latin typeface="Liter" pitchFamily="34" charset="0"/>
                <a:ea typeface="Liter" pitchFamily="34" charset="-122"/>
                <a:cs typeface="Liter" pitchFamily="34" charset="-120"/>
              </a:rPr>
              <a:t> - Film titles and actor names</a:t>
            </a:r>
            <a:endParaRPr lang="en-US" sz="1600" dirty="0"/>
          </a:p>
          <a:p>
            <a:pPr>
              <a:lnSpc>
                <a:spcPct val="160000"/>
              </a:lnSpc>
            </a:pPr>
            <a:r>
              <a:rPr lang="en-US" sz="2400" b="1" dirty="0">
                <a:solidFill>
                  <a:srgbClr val="000000"/>
                </a:solidFill>
                <a:latin typeface="Liter" pitchFamily="34" charset="0"/>
                <a:ea typeface="Liter" pitchFamily="34" charset="-122"/>
                <a:cs typeface="Liter" pitchFamily="34" charset="-120"/>
              </a:rPr>
              <a:t>game_state</a:t>
            </a:r>
            <a:pPr>
              <a:lnSpc>
                <a:spcPct val="160000"/>
              </a:lnSpc>
            </a:pPr>
            <a:r>
              <a:rPr lang="en-US" sz="2400" dirty="0">
                <a:solidFill>
                  <a:srgbClr val="000000"/>
                </a:solidFill>
                <a:latin typeface="Liter" pitchFamily="34" charset="0"/>
                <a:ea typeface="Liter" pitchFamily="34" charset="-122"/>
                <a:cs typeface="Liter" pitchFamily="34" charset="-120"/>
              </a:rPr>
              <a:t> - Player progress tracking</a:t>
            </a:r>
            <a:endParaRPr lang="en-US" sz="1600" dirty="0"/>
          </a:p>
          <a:p>
            <a:pPr>
              <a:lnSpc>
                <a:spcPct val="160000"/>
              </a:lnSpc>
            </a:pPr>
            <a:r>
              <a:rPr lang="en-US" sz="2400" b="1" dirty="0">
                <a:solidFill>
                  <a:srgbClr val="000000"/>
                </a:solidFill>
                <a:latin typeface="Liter" pitchFamily="34" charset="0"/>
                <a:ea typeface="Liter" pitchFamily="34" charset="-122"/>
                <a:cs typeface="Liter" pitchFamily="34" charset="-120"/>
              </a:rPr>
              <a:t>coins</a:t>
            </a:r>
            <a:pPr>
              <a:lnSpc>
                <a:spcPct val="160000"/>
              </a:lnSpc>
            </a:pPr>
            <a:r>
              <a:rPr lang="en-US" sz="2400" dirty="0">
                <a:solidFill>
                  <a:srgbClr val="000000"/>
                </a:solidFill>
                <a:latin typeface="Liter" pitchFamily="34" charset="0"/>
                <a:ea typeface="Liter" pitchFamily="34" charset="-122"/>
                <a:cs typeface="Liter" pitchFamily="34" charset="-120"/>
              </a:rPr>
              <a:t> - In-game economy and scoring system</a:t>
            </a:r>
            <a:endParaRPr lang="en-US" sz="1600" dirty="0"/>
          </a:p>
        </p:txBody>
      </p:sp>
      <p:pic>
        <p:nvPicPr>
          <p:cNvPr id="18" name="Image 0" descr="https://kimi-img.moonshot.cn/pub/slides/okc/vtbfi56czv24i/mnt/agents/output/film-guessing-game/images/4_Unlocking_AI_Driven_Data_Access_Azure.png">    </p:cNvPr>
          <p:cNvPicPr>
            <a:picLocks noChangeAspect="1"/>
          </p:cNvPicPr>
          <p:nvPr/>
        </p:nvPicPr>
        <p:blipFill>
          <a:blip r:embed="rId1"/>
          <a:srcRect l="0" r="0" t="-25297" b="-25297"/>
          <a:stretch/>
        </p:blipFill>
        <p:spPr>
          <a:xfrm>
            <a:off x="11633200" y="2552700"/>
            <a:ext cx="11607800" cy="9791700"/>
          </a:xfrm>
          <a:prstGeom prst="rect">
            <a:avLst/>
          </a:prstGeom>
        </p:spPr>
      </p:pic>
    </p:spTree>
  </p:cSld>
  <p:clrMapOvr>
    <a:masterClrMapping/>
  </p:clrMapOvr>
  <p:transition>
    <p:fade/>
    <p:spd val="med"/>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gradFill rotWithShape="1" flip="none">
          <a:gsLst>
            <a:gs pos="0">
              <a:srgbClr val="FFFFFF"/>
            </a:gs>
            <a:gs pos="50000">
              <a:srgbClr val="EAF4FF"/>
            </a:gs>
            <a:gs pos="100000">
              <a:srgbClr val="C7E2FF"/>
            </a:gs>
          </a:gsLst>
          <a:path path="circle"/>
        </a:gradFill>
      </p:bgPr>
    </p:bg>
    <p:spTree>
      <p:nvGrpSpPr>
        <p:cNvPr id="1" name=""/>
        <p:cNvGrpSpPr/>
        <p:nvPr/>
      </p:nvGrpSpPr>
      <p:grpSpPr>
        <a:xfrm>
          <a:off x="0" y="0"/>
          <a:ext cx="0" cy="0"/>
          <a:chOff x="0" y="0"/>
          <a:chExt cx="0" cy="0"/>
        </a:xfrm>
      </p:grpSpPr>
      <p:sp>
        <p:nvSpPr>
          <p:cNvPr id="2" name="Text 0"/>
          <p:cNvSpPr/>
          <p:nvPr/>
        </p:nvSpPr>
        <p:spPr>
          <a:xfrm>
            <a:off x="9232900" y="2819400"/>
            <a:ext cx="5918200" cy="4432300"/>
          </a:xfrm>
          <a:prstGeom prst="rect">
            <a:avLst/>
          </a:prstGeom>
          <a:noFill/>
          <a:ln/>
        </p:spPr>
        <p:txBody>
          <a:bodyPr wrap="none" lIns="0" tIns="0" rIns="0" bIns="0" rtlCol="0" anchor="t"/>
          <a:lstStyle/>
          <a:p>
            <a:pPr algn="ctr">
              <a:lnSpc>
                <a:spcPct val="140000"/>
              </a:lnSpc>
            </a:pPr>
            <a:r>
              <a:rPr lang="en-US" sz="24500" dirty="0">
                <a:solidFill>
                  <a:srgbClr val="004AAD"/>
                </a:solidFill>
                <a:latin typeface="QuattrocentoSans" pitchFamily="34" charset="0"/>
                <a:ea typeface="QuattrocentoSans" pitchFamily="34" charset="-122"/>
                <a:cs typeface="QuattrocentoSans" pitchFamily="34" charset="-120"/>
              </a:rPr>
              <a:t>04</a:t>
            </a:r>
            <a:endParaRPr lang="en-US" sz="24500" dirty="0"/>
          </a:p>
        </p:txBody>
      </p:sp>
      <p:sp>
        <p:nvSpPr>
          <p:cNvPr id="3" name="Shape 1"/>
          <p:cNvSpPr/>
          <p:nvPr/>
        </p:nvSpPr>
        <p:spPr>
          <a:xfrm>
            <a:off x="8382000" y="8458200"/>
            <a:ext cx="7607300" cy="0"/>
          </a:xfrm>
          <a:prstGeom prst="straightConnector1">
            <a:avLst/>
          </a:prstGeom>
          <a:noFill/>
          <a:ln w="28575">
            <a:solidFill>
              <a:srgbClr val="004AAD"/>
            </a:solidFill>
            <a:prstDash val="solid"/>
            <a:headEnd type="none"/>
            <a:tailEnd type="none"/>
          </a:ln>
        </p:spPr>
      </p:sp>
      <p:sp>
        <p:nvSpPr>
          <p:cNvPr id="4" name="Text 2"/>
          <p:cNvSpPr/>
          <p:nvPr/>
        </p:nvSpPr>
        <p:spPr>
          <a:xfrm>
            <a:off x="5080000" y="6616700"/>
            <a:ext cx="14224000" cy="1587500"/>
          </a:xfrm>
          <a:prstGeom prst="rect">
            <a:avLst/>
          </a:prstGeom>
          <a:noFill/>
          <a:ln/>
        </p:spPr>
        <p:txBody>
          <a:bodyPr wrap="none" lIns="0" tIns="0" rIns="0" bIns="0" rtlCol="0" anchor="t"/>
          <a:lstStyle/>
          <a:p>
            <a:pPr algn="ctr">
              <a:lnSpc>
                <a:spcPct val="140000"/>
              </a:lnSpc>
            </a:pPr>
            <a:r>
              <a:rPr lang="en-US" sz="8500" dirty="0">
                <a:solidFill>
                  <a:srgbClr val="000000"/>
                </a:solidFill>
                <a:latin typeface="QuattrocentoSans" pitchFamily="34" charset="0"/>
                <a:ea typeface="QuattrocentoSans" pitchFamily="34" charset="-122"/>
                <a:cs typeface="QuattrocentoSans" pitchFamily="34" charset="-120"/>
              </a:rPr>
              <a:t>Deployment &amp; Future</a:t>
            </a:r>
            <a:endParaRPr lang="en-US" sz="8500" dirty="0"/>
          </a:p>
        </p:txBody>
      </p:sp>
      <p:sp>
        <p:nvSpPr>
          <p:cNvPr id="5" name="Text 3"/>
          <p:cNvSpPr/>
          <p:nvPr/>
        </p:nvSpPr>
        <p:spPr>
          <a:xfrm>
            <a:off x="5727700" y="8763000"/>
            <a:ext cx="12941300" cy="1397000"/>
          </a:xfrm>
          <a:prstGeom prst="rect">
            <a:avLst/>
          </a:prstGeom>
          <a:noFill/>
          <a:ln/>
        </p:spPr>
        <p:txBody>
          <a:bodyPr wrap="square" lIns="0" tIns="0" rIns="0" bIns="0" rtlCol="0" anchor="t"/>
          <a:lstStyle/>
          <a:p>
            <a:pPr algn="ctr">
              <a:lnSpc>
                <a:spcPct val="100000"/>
              </a:lnSpc>
            </a:pPr>
            <a:r>
              <a:rPr lang="en-US" sz="4000" dirty="0">
                <a:solidFill>
                  <a:srgbClr val="737373"/>
                </a:solidFill>
                <a:latin typeface="Quattrocento Sans" pitchFamily="34" charset="0"/>
                <a:ea typeface="Quattrocento Sans" pitchFamily="34" charset="-122"/>
                <a:cs typeface="Quattrocento Sans" pitchFamily="34" charset="-120"/>
              </a:rPr>
              <a:t>Setup instructions and planned enhancements</a:t>
            </a:r>
            <a:endParaRPr lang="en-US" sz="1600" dirty="0"/>
          </a:p>
        </p:txBody>
      </p:sp>
      <p:sp>
        <p:nvSpPr>
          <p:cNvPr id="6" name="Text 4"/>
          <p:cNvSpPr/>
          <p:nvPr/>
        </p:nvSpPr>
        <p:spPr>
          <a:xfrm>
            <a:off x="1016000" y="800100"/>
            <a:ext cx="11036300" cy="635000"/>
          </a:xfrm>
          <a:prstGeom prst="rect">
            <a:avLst/>
          </a:prstGeom>
          <a:noFill/>
          <a:ln/>
        </p:spPr>
        <p:txBody>
          <a:bodyPr wrap="none" lIns="0" tIns="0" rIns="0" bIns="0" rtlCol="0" anchor="t"/>
          <a:lstStyle/>
          <a:p>
            <a:pPr algn="just">
              <a:lnSpc>
                <a:spcPct val="140000"/>
              </a:lnSpc>
            </a:pPr>
            <a:r>
              <a:rPr lang="en-US" sz="2900" spc="400" kern="0" dirty="0">
                <a:solidFill>
                  <a:srgbClr val="000000"/>
                </a:solidFill>
                <a:latin typeface="Liter" pitchFamily="34" charset="0"/>
                <a:ea typeface="Liter" pitchFamily="34" charset="-122"/>
                <a:cs typeface="Liter" pitchFamily="34" charset="-120"/>
              </a:rPr>
              <a:t>FILM GUESSING GAME</a:t>
            </a:r>
            <a:endParaRPr lang="en-US" sz="2900" dirty="0"/>
          </a:p>
        </p:txBody>
      </p:sp>
      <p:sp>
        <p:nvSpPr>
          <p:cNvPr id="7" name="Text 5"/>
          <p:cNvSpPr/>
          <p:nvPr/>
        </p:nvSpPr>
        <p:spPr>
          <a:xfrm>
            <a:off x="18161000" y="800100"/>
            <a:ext cx="5207000" cy="635000"/>
          </a:xfrm>
          <a:prstGeom prst="rect">
            <a:avLst/>
          </a:prstGeom>
          <a:noFill/>
          <a:ln/>
        </p:spPr>
        <p:txBody>
          <a:bodyPr wrap="none" lIns="0" tIns="0" rIns="0" bIns="0" rtlCol="0" anchor="t"/>
          <a:lstStyle/>
          <a:p>
            <a:pPr algn="r">
              <a:lnSpc>
                <a:spcPct val="140000"/>
              </a:lnSpc>
            </a:pPr>
            <a:r>
              <a:rPr lang="en-US" sz="2900" spc="400" kern="0" dirty="0">
                <a:solidFill>
                  <a:srgbClr val="000000"/>
                </a:solidFill>
                <a:latin typeface="Liter" pitchFamily="34" charset="0"/>
                <a:ea typeface="Liter" pitchFamily="34" charset="-122"/>
                <a:cs typeface="Liter" pitchFamily="34" charset="-120"/>
              </a:rPr>
              <a:t>PART 04</a:t>
            </a:r>
            <a:endParaRPr lang="en-US" sz="2900" dirty="0"/>
          </a:p>
        </p:txBody>
      </p:sp>
    </p:spTree>
  </p:cSld>
  <p:clrMapOvr>
    <a:masterClrMapping/>
  </p:clrMapOvr>
  <p:transition>
    <p:fade/>
    <p:spd val="med"/>
  </p:transition>
</p:sld>
</file>

<file path=ppt/slides/slide14.xml><?xml version="1.0" encoding="utf-8"?>
<p:sld xmlns:a="http://schemas.openxmlformats.org/drawingml/2006/main" xmlns:r="http://schemas.openxmlformats.org/officeDocument/2006/relationships" xmlns:p="http://schemas.openxmlformats.org/presentationml/2006/main">
  <p:cSld name="Slide 14">
    <p:bg>
      <p:bgPr>
        <a:gradFill rotWithShape="1" flip="none">
          <a:gsLst>
            <a:gs pos="0">
              <a:srgbClr val="C7E2FF"/>
            </a:gs>
            <a:gs pos="50000">
              <a:srgbClr val="EAF4FF"/>
            </a:gs>
            <a:gs pos="100000">
              <a:srgbClr val="FFFFFF"/>
            </a:gs>
          </a:gsLst>
          <a:lin ang="2700000" scaled="1"/>
        </a:gradFill>
      </p:bgPr>
    </p:bg>
    <p:spTree>
      <p:nvGrpSpPr>
        <p:cNvPr id="1" name=""/>
        <p:cNvGrpSpPr/>
        <p:nvPr/>
      </p:nvGrpSpPr>
      <p:grpSpPr>
        <a:xfrm>
          <a:off x="0" y="0"/>
          <a:ext cx="0" cy="0"/>
          <a:chOff x="0" y="0"/>
          <a:chExt cx="0" cy="0"/>
        </a:xfrm>
      </p:grpSpPr>
      <p:sp>
        <p:nvSpPr>
          <p:cNvPr id="2" name="Text 0"/>
          <p:cNvSpPr/>
          <p:nvPr/>
        </p:nvSpPr>
        <p:spPr>
          <a:xfrm>
            <a:off x="1244600" y="1282700"/>
            <a:ext cx="10363200" cy="2247900"/>
          </a:xfrm>
          <a:prstGeom prst="rect">
            <a:avLst/>
          </a:prstGeom>
          <a:noFill/>
          <a:ln/>
        </p:spPr>
        <p:txBody>
          <a:bodyPr wrap="square" lIns="0" tIns="0" rIns="0" bIns="0" rtlCol="0" anchor="t"/>
          <a:lstStyle/>
          <a:p>
            <a:pPr>
              <a:lnSpc>
                <a:spcPct val="124000"/>
              </a:lnSpc>
            </a:pPr>
            <a:r>
              <a:rPr lang="en-US" sz="6800" dirty="0">
                <a:solidFill>
                  <a:srgbClr val="000000"/>
                </a:solidFill>
                <a:latin typeface="QuattrocentoSans" pitchFamily="34" charset="0"/>
                <a:ea typeface="QuattrocentoSans" pitchFamily="34" charset="-122"/>
                <a:cs typeface="QuattrocentoSans" pitchFamily="34" charset="-120"/>
              </a:rPr>
              <a:t>SETUP &amp; INSTALLATION</a:t>
            </a:r>
            <a:endParaRPr lang="en-US" sz="6800" dirty="0"/>
          </a:p>
        </p:txBody>
      </p:sp>
      <p:sp>
        <p:nvSpPr>
          <p:cNvPr id="3" name="Shape 1"/>
          <p:cNvSpPr/>
          <p:nvPr/>
        </p:nvSpPr>
        <p:spPr>
          <a:xfrm>
            <a:off x="11264900" y="1574800"/>
            <a:ext cx="9779000" cy="0"/>
          </a:xfrm>
          <a:prstGeom prst="straightConnector1">
            <a:avLst/>
          </a:prstGeom>
          <a:noFill/>
          <a:ln w="9525">
            <a:solidFill>
              <a:srgbClr val="000000"/>
            </a:solidFill>
            <a:prstDash val="solid"/>
            <a:headEnd type="none"/>
            <a:tailEnd type="none"/>
          </a:ln>
        </p:spPr>
      </p:sp>
      <p:sp>
        <p:nvSpPr>
          <p:cNvPr id="4" name="Text 2"/>
          <p:cNvSpPr/>
          <p:nvPr/>
        </p:nvSpPr>
        <p:spPr>
          <a:xfrm>
            <a:off x="8242300" y="2565400"/>
            <a:ext cx="5842000" cy="825500"/>
          </a:xfrm>
          <a:prstGeom prst="rect">
            <a:avLst/>
          </a:prstGeom>
          <a:noFill/>
          <a:ln/>
        </p:spPr>
        <p:txBody>
          <a:bodyPr wrap="none" lIns="0" tIns="0" rIns="0" bIns="0" rtlCol="0" anchor="t"/>
          <a:lstStyle/>
          <a:p>
            <a:pPr>
              <a:lnSpc>
                <a:spcPct val="140000"/>
              </a:lnSpc>
            </a:pPr>
            <a:r>
              <a:rPr lang="en-US" sz="4100" dirty="0">
                <a:solidFill>
                  <a:srgbClr val="000000"/>
                </a:solidFill>
                <a:latin typeface="QuattrocentoSans" pitchFamily="34" charset="0"/>
                <a:ea typeface="QuattrocentoSans" pitchFamily="34" charset="-122"/>
                <a:cs typeface="QuattrocentoSans" pitchFamily="34" charset="-120"/>
              </a:rPr>
              <a:t>Getting Started</a:t>
            </a:r>
            <a:endParaRPr lang="en-US" sz="4100" dirty="0"/>
          </a:p>
        </p:txBody>
      </p:sp>
      <p:sp>
        <p:nvSpPr>
          <p:cNvPr id="5" name="Text 3"/>
          <p:cNvSpPr/>
          <p:nvPr/>
        </p:nvSpPr>
        <p:spPr>
          <a:xfrm>
            <a:off x="18161000" y="1244600"/>
            <a:ext cx="5207000" cy="635000"/>
          </a:xfrm>
          <a:prstGeom prst="rect">
            <a:avLst/>
          </a:prstGeom>
          <a:noFill/>
          <a:ln/>
        </p:spPr>
        <p:txBody>
          <a:bodyPr wrap="none" lIns="0" tIns="0" rIns="0" bIns="0" rtlCol="0" anchor="t"/>
          <a:lstStyle/>
          <a:p>
            <a:pPr algn="r">
              <a:lnSpc>
                <a:spcPct val="140000"/>
              </a:lnSpc>
            </a:pPr>
            <a:r>
              <a:rPr lang="en-US" sz="2900" spc="400" kern="0" dirty="0">
                <a:solidFill>
                  <a:srgbClr val="000000"/>
                </a:solidFill>
                <a:latin typeface="Liter" pitchFamily="34" charset="0"/>
                <a:ea typeface="Liter" pitchFamily="34" charset="-122"/>
                <a:cs typeface="Liter" pitchFamily="34" charset="-120"/>
              </a:rPr>
              <a:t>PART 04</a:t>
            </a:r>
            <a:endParaRPr lang="en-US" sz="2900" dirty="0"/>
          </a:p>
        </p:txBody>
      </p:sp>
      <p:sp>
        <p:nvSpPr>
          <p:cNvPr id="6" name="Shape 4"/>
          <p:cNvSpPr/>
          <p:nvPr/>
        </p:nvSpPr>
        <p:spPr>
          <a:xfrm rot="5400000">
            <a:off x="1346200" y="3835400"/>
            <a:ext cx="368300" cy="330200"/>
          </a:xfrm>
          <a:prstGeom prst="triangle">
            <a:avLst>
              <a:gd name="adj" fmla="val 50000"/>
            </a:avLst>
          </a:prstGeom>
          <a:solidFill>
            <a:srgbClr val="004AAD"/>
          </a:solidFill>
          <a:ln/>
        </p:spPr>
      </p:sp>
      <p:sp>
        <p:nvSpPr>
          <p:cNvPr id="7" name="Shape 5"/>
          <p:cNvSpPr/>
          <p:nvPr/>
        </p:nvSpPr>
        <p:spPr>
          <a:xfrm rot="5400000">
            <a:off x="1854200" y="3835400"/>
            <a:ext cx="368300" cy="330200"/>
          </a:xfrm>
          <a:prstGeom prst="triangle">
            <a:avLst>
              <a:gd name="adj" fmla="val 50000"/>
            </a:avLst>
          </a:prstGeom>
          <a:solidFill>
            <a:srgbClr val="004AAD"/>
          </a:solidFill>
          <a:ln/>
        </p:spPr>
      </p:sp>
      <p:sp>
        <p:nvSpPr>
          <p:cNvPr id="8" name="Shape 6"/>
          <p:cNvSpPr/>
          <p:nvPr/>
        </p:nvSpPr>
        <p:spPr>
          <a:xfrm rot="5400000">
            <a:off x="2349500" y="3835400"/>
            <a:ext cx="368300" cy="330200"/>
          </a:xfrm>
          <a:prstGeom prst="triangle">
            <a:avLst>
              <a:gd name="adj" fmla="val 50000"/>
            </a:avLst>
          </a:prstGeom>
          <a:solidFill>
            <a:srgbClr val="004AAD"/>
          </a:solidFill>
          <a:ln/>
        </p:spPr>
      </p:sp>
      <p:sp>
        <p:nvSpPr>
          <p:cNvPr id="9" name="Shape 7"/>
          <p:cNvSpPr/>
          <p:nvPr/>
        </p:nvSpPr>
        <p:spPr>
          <a:xfrm rot="5400000">
            <a:off x="2857500" y="3835400"/>
            <a:ext cx="368300" cy="330200"/>
          </a:xfrm>
          <a:prstGeom prst="triangle">
            <a:avLst>
              <a:gd name="adj" fmla="val 50000"/>
            </a:avLst>
          </a:prstGeom>
          <a:solidFill>
            <a:srgbClr val="004AAD"/>
          </a:solidFill>
          <a:ln/>
        </p:spPr>
      </p:sp>
      <p:sp>
        <p:nvSpPr>
          <p:cNvPr id="10" name="Shape 8"/>
          <p:cNvSpPr/>
          <p:nvPr/>
        </p:nvSpPr>
        <p:spPr>
          <a:xfrm rot="5400000">
            <a:off x="3352800" y="3835400"/>
            <a:ext cx="368300" cy="330200"/>
          </a:xfrm>
          <a:prstGeom prst="triangle">
            <a:avLst>
              <a:gd name="adj" fmla="val 50000"/>
            </a:avLst>
          </a:prstGeom>
          <a:solidFill>
            <a:srgbClr val="004AAD"/>
          </a:solidFill>
          <a:ln/>
        </p:spPr>
      </p:sp>
      <p:sp>
        <p:nvSpPr>
          <p:cNvPr id="11" name="Shape 9"/>
          <p:cNvSpPr/>
          <p:nvPr/>
        </p:nvSpPr>
        <p:spPr>
          <a:xfrm rot="5400000">
            <a:off x="3860800" y="3835400"/>
            <a:ext cx="368300" cy="330200"/>
          </a:xfrm>
          <a:prstGeom prst="triangle">
            <a:avLst>
              <a:gd name="adj" fmla="val 50000"/>
            </a:avLst>
          </a:prstGeom>
          <a:solidFill>
            <a:srgbClr val="004AAD"/>
          </a:solidFill>
          <a:ln/>
        </p:spPr>
      </p:sp>
      <p:sp>
        <p:nvSpPr>
          <p:cNvPr id="12" name="Shape 10"/>
          <p:cNvSpPr/>
          <p:nvPr/>
        </p:nvSpPr>
        <p:spPr>
          <a:xfrm>
            <a:off x="1371600" y="4826000"/>
            <a:ext cx="4787900" cy="863600"/>
          </a:xfrm>
          <a:prstGeom prst="rect">
            <a:avLst/>
          </a:prstGeom>
          <a:solidFill>
            <a:srgbClr val="7EC8E3"/>
          </a:solidFill>
          <a:ln/>
        </p:spPr>
      </p:sp>
      <p:sp>
        <p:nvSpPr>
          <p:cNvPr id="13" name="Shape 11"/>
          <p:cNvSpPr/>
          <p:nvPr/>
        </p:nvSpPr>
        <p:spPr>
          <a:xfrm>
            <a:off x="1371600" y="4826000"/>
            <a:ext cx="190500" cy="863600"/>
          </a:xfrm>
          <a:prstGeom prst="rect">
            <a:avLst/>
          </a:prstGeom>
          <a:solidFill>
            <a:srgbClr val="48B2FF"/>
          </a:solidFill>
          <a:ln/>
        </p:spPr>
      </p:sp>
      <p:sp>
        <p:nvSpPr>
          <p:cNvPr id="14" name="Text 12"/>
          <p:cNvSpPr/>
          <p:nvPr/>
        </p:nvSpPr>
        <p:spPr>
          <a:xfrm>
            <a:off x="1803400" y="4864100"/>
            <a:ext cx="4191000" cy="711200"/>
          </a:xfrm>
          <a:prstGeom prst="rect">
            <a:avLst/>
          </a:prstGeom>
          <a:noFill/>
          <a:ln/>
        </p:spPr>
        <p:txBody>
          <a:bodyPr wrap="none" lIns="0" tIns="0" rIns="0" bIns="0" rtlCol="0" anchor="t"/>
          <a:lstStyle/>
          <a:p>
            <a:pPr>
              <a:lnSpc>
                <a:spcPct val="140000"/>
              </a:lnSpc>
            </a:pPr>
            <a:r>
              <a:rPr lang="en-US" sz="3500" dirty="0">
                <a:solidFill>
                  <a:srgbClr val="000000"/>
                </a:solidFill>
                <a:latin typeface="QuattrocentoSans" pitchFamily="34" charset="0"/>
                <a:ea typeface="QuattrocentoSans" pitchFamily="34" charset="-122"/>
                <a:cs typeface="QuattrocentoSans" pitchFamily="34" charset="-120"/>
              </a:rPr>
              <a:t>Prerequisites</a:t>
            </a:r>
            <a:endParaRPr lang="en-US" sz="3500" dirty="0"/>
          </a:p>
        </p:txBody>
      </p:sp>
      <p:sp>
        <p:nvSpPr>
          <p:cNvPr id="15" name="Text 13"/>
          <p:cNvSpPr/>
          <p:nvPr/>
        </p:nvSpPr>
        <p:spPr>
          <a:xfrm>
            <a:off x="1371600" y="5969000"/>
            <a:ext cx="21640800" cy="825500"/>
          </a:xfrm>
          <a:prstGeom prst="rect">
            <a:avLst/>
          </a:prstGeom>
          <a:noFill/>
          <a:ln/>
        </p:spPr>
        <p:txBody>
          <a:bodyPr wrap="square" lIns="0" tIns="0" rIns="0" bIns="0" rtlCol="0" anchor="t"/>
          <a:lstStyle/>
          <a:p>
            <a:pPr>
              <a:lnSpc>
                <a:spcPct val="156000"/>
              </a:lnSpc>
            </a:pPr>
            <a:r>
              <a:rPr lang="en-US" sz="2700" b="1" dirty="0">
                <a:solidFill>
                  <a:srgbClr val="000000"/>
                </a:solidFill>
                <a:latin typeface="Liter" pitchFamily="34" charset="0"/>
                <a:ea typeface="Liter" pitchFamily="34" charset="-122"/>
                <a:cs typeface="Liter" pitchFamily="34" charset="-120"/>
              </a:rPr>
              <a:t>JDK 8+</a:t>
            </a:r>
            <a:pPr>
              <a:lnSpc>
                <a:spcPct val="156000"/>
              </a:lnSpc>
            </a:pPr>
            <a:r>
              <a:rPr lang="en-US" sz="2700" dirty="0">
                <a:solidFill>
                  <a:srgbClr val="000000"/>
                </a:solidFill>
                <a:latin typeface="Liter" pitchFamily="34" charset="0"/>
                <a:ea typeface="Liter" pitchFamily="34" charset="-122"/>
                <a:cs typeface="Liter" pitchFamily="34" charset="-120"/>
              </a:rPr>
              <a:t> installed | </a:t>
            </a:r>
            <a:pPr>
              <a:lnSpc>
                <a:spcPct val="156000"/>
              </a:lnSpc>
            </a:pPr>
            <a:r>
              <a:rPr lang="en-US" sz="2700" b="1" dirty="0">
                <a:solidFill>
                  <a:srgbClr val="000000"/>
                </a:solidFill>
                <a:latin typeface="Liter" pitchFamily="34" charset="0"/>
                <a:ea typeface="Liter" pitchFamily="34" charset="-122"/>
                <a:cs typeface="Liter" pitchFamily="34" charset="-120"/>
              </a:rPr>
              <a:t>MySQL Server</a:t>
            </a:r>
            <a:pPr>
              <a:lnSpc>
                <a:spcPct val="156000"/>
              </a:lnSpc>
            </a:pPr>
            <a:r>
              <a:rPr lang="en-US" sz="2700" dirty="0">
                <a:solidFill>
                  <a:srgbClr val="000000"/>
                </a:solidFill>
                <a:latin typeface="Liter" pitchFamily="34" charset="0"/>
                <a:ea typeface="Liter" pitchFamily="34" charset="-122"/>
                <a:cs typeface="Liter" pitchFamily="34" charset="-120"/>
              </a:rPr>
              <a:t> running instance | </a:t>
            </a:r>
            <a:pPr>
              <a:lnSpc>
                <a:spcPct val="156000"/>
              </a:lnSpc>
            </a:pPr>
            <a:r>
              <a:rPr lang="en-US" sz="2700" b="1" dirty="0">
                <a:solidFill>
                  <a:srgbClr val="000000"/>
                </a:solidFill>
                <a:latin typeface="Liter" pitchFamily="34" charset="0"/>
                <a:ea typeface="Liter" pitchFamily="34" charset="-122"/>
                <a:cs typeface="Liter" pitchFamily="34" charset="-120"/>
              </a:rPr>
              <a:t>MySQL JDBC Driver</a:t>
            </a:r>
            <a:pPr>
              <a:lnSpc>
                <a:spcPct val="156000"/>
              </a:lnSpc>
            </a:pPr>
            <a:r>
              <a:rPr lang="en-US" sz="2700" dirty="0">
                <a:solidFill>
                  <a:srgbClr val="000000"/>
                </a:solidFill>
                <a:latin typeface="Liter" pitchFamily="34" charset="0"/>
                <a:ea typeface="Liter" pitchFamily="34" charset="-122"/>
                <a:cs typeface="Liter" pitchFamily="34" charset="-120"/>
              </a:rPr>
              <a:t> (Connector/J) in classpath</a:t>
            </a:r>
            <a:endParaRPr lang="en-US" sz="2700" dirty="0"/>
          </a:p>
        </p:txBody>
      </p:sp>
      <p:sp>
        <p:nvSpPr>
          <p:cNvPr id="16" name="Text 14"/>
          <p:cNvSpPr/>
          <p:nvPr/>
        </p:nvSpPr>
        <p:spPr>
          <a:xfrm>
            <a:off x="1371600" y="7112000"/>
            <a:ext cx="762000" cy="711200"/>
          </a:xfrm>
          <a:prstGeom prst="rect">
            <a:avLst/>
          </a:prstGeom>
          <a:noFill/>
          <a:ln/>
        </p:spPr>
        <p:txBody>
          <a:bodyPr wrap="none" lIns="0" tIns="0" rIns="0" bIns="0" rtlCol="0" anchor="t"/>
          <a:lstStyle/>
          <a:p>
            <a:pPr algn="ctr">
              <a:lnSpc>
                <a:spcPct val="100000"/>
              </a:lnSpc>
            </a:pPr>
            <a:r>
              <a:rPr lang="en-US" sz="3500" dirty="0">
                <a:solidFill>
                  <a:srgbClr val="004AAD"/>
                </a:solidFill>
                <a:latin typeface="Quattrocento Sans" pitchFamily="34" charset="0"/>
                <a:ea typeface="Quattrocento Sans" pitchFamily="34" charset="-122"/>
                <a:cs typeface="Quattrocento Sans" pitchFamily="34" charset="-120"/>
              </a:rPr>
              <a:t>01</a:t>
            </a:r>
            <a:endParaRPr lang="en-US" sz="1600" dirty="0"/>
          </a:p>
        </p:txBody>
      </p:sp>
      <p:sp>
        <p:nvSpPr>
          <p:cNvPr id="17" name="Shape 15"/>
          <p:cNvSpPr/>
          <p:nvPr/>
        </p:nvSpPr>
        <p:spPr>
          <a:xfrm>
            <a:off x="2286000" y="7467600"/>
            <a:ext cx="508000" cy="0"/>
          </a:xfrm>
          <a:prstGeom prst="straightConnector1">
            <a:avLst/>
          </a:prstGeom>
          <a:noFill/>
          <a:ln w="38100">
            <a:solidFill>
              <a:srgbClr val="48B2FF"/>
            </a:solidFill>
            <a:prstDash val="solid"/>
            <a:headEnd type="none"/>
            <a:tailEnd type="none"/>
          </a:ln>
        </p:spPr>
      </p:sp>
      <p:sp>
        <p:nvSpPr>
          <p:cNvPr id="18" name="Text 16"/>
          <p:cNvSpPr/>
          <p:nvPr/>
        </p:nvSpPr>
        <p:spPr>
          <a:xfrm>
            <a:off x="2921000" y="7112000"/>
            <a:ext cx="4445000" cy="711200"/>
          </a:xfrm>
          <a:prstGeom prst="rect">
            <a:avLst/>
          </a:prstGeom>
          <a:noFill/>
          <a:ln/>
        </p:spPr>
        <p:txBody>
          <a:bodyPr wrap="none" lIns="0" tIns="0" rIns="0" bIns="0" rtlCol="0" anchor="t"/>
          <a:lstStyle/>
          <a:p>
            <a:pPr>
              <a:lnSpc>
                <a:spcPct val="100000"/>
              </a:lnSpc>
            </a:pPr>
            <a:r>
              <a:rPr lang="en-US" sz="3000" dirty="0">
                <a:solidFill>
                  <a:srgbClr val="000000"/>
                </a:solidFill>
                <a:latin typeface="Quattrocento Sans" pitchFamily="34" charset="0"/>
                <a:ea typeface="Quattrocento Sans" pitchFamily="34" charset="-122"/>
                <a:cs typeface="Quattrocento Sans" pitchFamily="34" charset="-120"/>
              </a:rPr>
              <a:t>Clone Repository</a:t>
            </a:r>
            <a:endParaRPr lang="en-US" sz="1600" dirty="0"/>
          </a:p>
        </p:txBody>
      </p:sp>
      <p:sp>
        <p:nvSpPr>
          <p:cNvPr id="19" name="Text 17"/>
          <p:cNvSpPr/>
          <p:nvPr/>
        </p:nvSpPr>
        <p:spPr>
          <a:xfrm>
            <a:off x="2921000" y="7823200"/>
            <a:ext cx="19812000" cy="825500"/>
          </a:xfrm>
          <a:prstGeom prst="rect">
            <a:avLst/>
          </a:prstGeom>
          <a:noFill/>
          <a:ln/>
        </p:spPr>
        <p:txBody>
          <a:bodyPr wrap="square" lIns="0" tIns="0" rIns="0" bIns="0" rtlCol="0" anchor="t"/>
          <a:lstStyle/>
          <a:p>
            <a:pPr algn="just">
              <a:lnSpc>
                <a:spcPct val="156000"/>
              </a:lnSpc>
            </a:pPr>
            <a:r>
              <a:rPr lang="en-US" sz="2700" dirty="0">
                <a:solidFill>
                  <a:srgbClr val="000000"/>
                </a:solidFill>
                <a:latin typeface="Liter" pitchFamily="34" charset="0"/>
                <a:ea typeface="Liter" pitchFamily="34" charset="-122"/>
                <a:cs typeface="Liter" pitchFamily="34" charset="-120"/>
              </a:rPr>
              <a:t>Clone the project from GitHub repository. Ensure you have Git installed and configured on your development machine.</a:t>
            </a:r>
            <a:endParaRPr lang="en-US" sz="2700" dirty="0"/>
          </a:p>
        </p:txBody>
      </p:sp>
      <p:sp>
        <p:nvSpPr>
          <p:cNvPr id="20" name="Text 18"/>
          <p:cNvSpPr/>
          <p:nvPr/>
        </p:nvSpPr>
        <p:spPr>
          <a:xfrm>
            <a:off x="1371600" y="8890000"/>
            <a:ext cx="889000" cy="711200"/>
          </a:xfrm>
          <a:prstGeom prst="rect">
            <a:avLst/>
          </a:prstGeom>
          <a:noFill/>
          <a:ln/>
        </p:spPr>
        <p:txBody>
          <a:bodyPr wrap="none" lIns="0" tIns="0" rIns="0" bIns="0" rtlCol="0" anchor="t"/>
          <a:lstStyle/>
          <a:p>
            <a:pPr algn="ctr">
              <a:lnSpc>
                <a:spcPct val="100000"/>
              </a:lnSpc>
            </a:pPr>
            <a:r>
              <a:rPr lang="en-US" sz="3500" dirty="0">
                <a:solidFill>
                  <a:srgbClr val="004AAD"/>
                </a:solidFill>
                <a:latin typeface="Quattrocento Sans" pitchFamily="34" charset="0"/>
                <a:ea typeface="Quattrocento Sans" pitchFamily="34" charset="-122"/>
                <a:cs typeface="Quattrocento Sans" pitchFamily="34" charset="-120"/>
              </a:rPr>
              <a:t>02</a:t>
            </a:r>
            <a:endParaRPr lang="en-US" sz="1600" dirty="0"/>
          </a:p>
        </p:txBody>
      </p:sp>
      <p:sp>
        <p:nvSpPr>
          <p:cNvPr id="21" name="Shape 19"/>
          <p:cNvSpPr/>
          <p:nvPr/>
        </p:nvSpPr>
        <p:spPr>
          <a:xfrm>
            <a:off x="2349500" y="9245600"/>
            <a:ext cx="508000" cy="0"/>
          </a:xfrm>
          <a:prstGeom prst="straightConnector1">
            <a:avLst/>
          </a:prstGeom>
          <a:noFill/>
          <a:ln w="38100">
            <a:solidFill>
              <a:srgbClr val="48B2FF"/>
            </a:solidFill>
            <a:prstDash val="solid"/>
            <a:headEnd type="none"/>
            <a:tailEnd type="none"/>
          </a:ln>
        </p:spPr>
      </p:sp>
      <p:sp>
        <p:nvSpPr>
          <p:cNvPr id="22" name="Text 20"/>
          <p:cNvSpPr/>
          <p:nvPr/>
        </p:nvSpPr>
        <p:spPr>
          <a:xfrm>
            <a:off x="2984500" y="8890000"/>
            <a:ext cx="4445000" cy="711200"/>
          </a:xfrm>
          <a:prstGeom prst="rect">
            <a:avLst/>
          </a:prstGeom>
          <a:noFill/>
          <a:ln/>
        </p:spPr>
        <p:txBody>
          <a:bodyPr wrap="none" lIns="0" tIns="0" rIns="0" bIns="0" rtlCol="0" anchor="t"/>
          <a:lstStyle/>
          <a:p>
            <a:pPr>
              <a:lnSpc>
                <a:spcPct val="100000"/>
              </a:lnSpc>
            </a:pPr>
            <a:r>
              <a:rPr lang="en-US" sz="3000" dirty="0">
                <a:solidFill>
                  <a:srgbClr val="000000"/>
                </a:solidFill>
                <a:latin typeface="Quattrocento Sans" pitchFamily="34" charset="0"/>
                <a:ea typeface="Quattrocento Sans" pitchFamily="34" charset="-122"/>
                <a:cs typeface="Quattrocento Sans" pitchFamily="34" charset="-120"/>
              </a:rPr>
              <a:t>Create Database</a:t>
            </a:r>
            <a:endParaRPr lang="en-US" sz="1600" dirty="0"/>
          </a:p>
        </p:txBody>
      </p:sp>
      <p:sp>
        <p:nvSpPr>
          <p:cNvPr id="23" name="Text 21"/>
          <p:cNvSpPr/>
          <p:nvPr/>
        </p:nvSpPr>
        <p:spPr>
          <a:xfrm>
            <a:off x="2984500" y="9601200"/>
            <a:ext cx="19748500" cy="1397000"/>
          </a:xfrm>
          <a:prstGeom prst="rect">
            <a:avLst/>
          </a:prstGeom>
          <a:noFill/>
          <a:ln/>
        </p:spPr>
        <p:txBody>
          <a:bodyPr wrap="square" lIns="0" tIns="0" rIns="0" bIns="0" rtlCol="0" anchor="t"/>
          <a:lstStyle/>
          <a:p>
            <a:pPr algn="just">
              <a:lnSpc>
                <a:spcPct val="156000"/>
              </a:lnSpc>
            </a:pPr>
            <a:r>
              <a:rPr lang="en-US" sz="2700" dirty="0">
                <a:solidFill>
                  <a:srgbClr val="000000"/>
                </a:solidFill>
                <a:latin typeface="Liter" pitchFamily="34" charset="0"/>
                <a:ea typeface="Liter" pitchFamily="34" charset="-122"/>
                <a:cs typeface="Liter" pitchFamily="34" charset="-120"/>
              </a:rPr>
              <a:t>Create the MySQL database named "films". Define the necessary tables including film_actors, game_state, and coins with proper schema.</a:t>
            </a:r>
            <a:endParaRPr lang="en-US" sz="2700" dirty="0"/>
          </a:p>
        </p:txBody>
      </p:sp>
      <p:sp>
        <p:nvSpPr>
          <p:cNvPr id="24" name="Text 22"/>
          <p:cNvSpPr/>
          <p:nvPr/>
        </p:nvSpPr>
        <p:spPr>
          <a:xfrm>
            <a:off x="1371600" y="11176000"/>
            <a:ext cx="889000" cy="711200"/>
          </a:xfrm>
          <a:prstGeom prst="rect">
            <a:avLst/>
          </a:prstGeom>
          <a:noFill/>
          <a:ln/>
        </p:spPr>
        <p:txBody>
          <a:bodyPr wrap="none" lIns="0" tIns="0" rIns="0" bIns="0" rtlCol="0" anchor="t"/>
          <a:lstStyle/>
          <a:p>
            <a:pPr algn="ctr">
              <a:lnSpc>
                <a:spcPct val="100000"/>
              </a:lnSpc>
            </a:pPr>
            <a:r>
              <a:rPr lang="en-US" sz="3500" dirty="0">
                <a:solidFill>
                  <a:srgbClr val="004AAD"/>
                </a:solidFill>
                <a:latin typeface="Quattrocento Sans" pitchFamily="34" charset="0"/>
                <a:ea typeface="Quattrocento Sans" pitchFamily="34" charset="-122"/>
                <a:cs typeface="Quattrocento Sans" pitchFamily="34" charset="-120"/>
              </a:rPr>
              <a:t>03</a:t>
            </a:r>
            <a:endParaRPr lang="en-US" sz="1600" dirty="0"/>
          </a:p>
        </p:txBody>
      </p:sp>
      <p:sp>
        <p:nvSpPr>
          <p:cNvPr id="25" name="Shape 23"/>
          <p:cNvSpPr/>
          <p:nvPr/>
        </p:nvSpPr>
        <p:spPr>
          <a:xfrm>
            <a:off x="2349500" y="11531600"/>
            <a:ext cx="508000" cy="0"/>
          </a:xfrm>
          <a:prstGeom prst="straightConnector1">
            <a:avLst/>
          </a:prstGeom>
          <a:noFill/>
          <a:ln w="38100">
            <a:solidFill>
              <a:srgbClr val="48B2FF"/>
            </a:solidFill>
            <a:prstDash val="solid"/>
            <a:headEnd type="none"/>
            <a:tailEnd type="none"/>
          </a:ln>
        </p:spPr>
      </p:sp>
      <p:sp>
        <p:nvSpPr>
          <p:cNvPr id="26" name="Text 24"/>
          <p:cNvSpPr/>
          <p:nvPr/>
        </p:nvSpPr>
        <p:spPr>
          <a:xfrm>
            <a:off x="2984500" y="11176000"/>
            <a:ext cx="4445000" cy="711200"/>
          </a:xfrm>
          <a:prstGeom prst="rect">
            <a:avLst/>
          </a:prstGeom>
          <a:noFill/>
          <a:ln/>
        </p:spPr>
        <p:txBody>
          <a:bodyPr wrap="none" lIns="0" tIns="0" rIns="0" bIns="0" rtlCol="0" anchor="t"/>
          <a:lstStyle/>
          <a:p>
            <a:pPr>
              <a:lnSpc>
                <a:spcPct val="100000"/>
              </a:lnSpc>
            </a:pPr>
            <a:r>
              <a:rPr lang="en-US" sz="3000" dirty="0">
                <a:solidFill>
                  <a:srgbClr val="000000"/>
                </a:solidFill>
                <a:latin typeface="Quattrocento Sans" pitchFamily="34" charset="0"/>
                <a:ea typeface="Quattrocento Sans" pitchFamily="34" charset="-122"/>
                <a:cs typeface="Quattrocento Sans" pitchFamily="34" charset="-120"/>
              </a:rPr>
              <a:t>Configure &amp; Run</a:t>
            </a:r>
            <a:endParaRPr lang="en-US" sz="1600" dirty="0"/>
          </a:p>
        </p:txBody>
      </p:sp>
      <p:sp>
        <p:nvSpPr>
          <p:cNvPr id="27" name="Text 25"/>
          <p:cNvSpPr/>
          <p:nvPr/>
        </p:nvSpPr>
        <p:spPr>
          <a:xfrm>
            <a:off x="2984500" y="11887200"/>
            <a:ext cx="19748500" cy="1397000"/>
          </a:xfrm>
          <a:prstGeom prst="rect">
            <a:avLst/>
          </a:prstGeom>
          <a:noFill/>
          <a:ln/>
        </p:spPr>
        <p:txBody>
          <a:bodyPr wrap="square" lIns="0" tIns="0" rIns="0" bIns="0" rtlCol="0" anchor="t"/>
          <a:lstStyle/>
          <a:p>
            <a:pPr algn="just">
              <a:lnSpc>
                <a:spcPct val="156000"/>
              </a:lnSpc>
            </a:pPr>
            <a:r>
              <a:rPr lang="en-US" sz="2700" dirty="0">
                <a:solidFill>
                  <a:srgbClr val="000000"/>
                </a:solidFill>
                <a:latin typeface="Liter" pitchFamily="34" charset="0"/>
                <a:ea typeface="Liter" pitchFamily="34" charset="-122"/>
                <a:cs typeface="Liter" pitchFamily="34" charset="-120"/>
              </a:rPr>
              <a:t>Populate film_actors table with data, update the database connection string in DataBaseConnection.java with your credentials, then build and run using a Java IDE.</a:t>
            </a:r>
            <a:endParaRPr lang="en-US" sz="2700" dirty="0"/>
          </a:p>
        </p:txBody>
      </p:sp>
    </p:spTree>
  </p:cSld>
  <p:clrMapOvr>
    <a:masterClrMapping/>
  </p:clrMapOvr>
  <p:transition>
    <p:fade/>
    <p:spd val="med"/>
  </p:transition>
</p:sld>
</file>

<file path=ppt/slides/slide15.xml><?xml version="1.0" encoding="utf-8"?>
<p:sld xmlns:a="http://schemas.openxmlformats.org/drawingml/2006/main" xmlns:r="http://schemas.openxmlformats.org/officeDocument/2006/relationships" xmlns:p="http://schemas.openxmlformats.org/presentationml/2006/main">
  <p:cSld name="Slide 15">
    <p:bg>
      <p:bgPr>
        <a:gradFill rotWithShape="1" flip="none">
          <a:gsLst>
            <a:gs pos="0">
              <a:srgbClr val="C7E2FF"/>
            </a:gs>
            <a:gs pos="50000">
              <a:srgbClr val="EAF4FF"/>
            </a:gs>
            <a:gs pos="100000">
              <a:srgbClr val="FFFFFF"/>
            </a:gs>
          </a:gsLst>
          <a:lin ang="2700000" scaled="1"/>
        </a:gradFill>
      </p:bgPr>
    </p:bg>
    <p:spTree>
      <p:nvGrpSpPr>
        <p:cNvPr id="1" name=""/>
        <p:cNvGrpSpPr/>
        <p:nvPr/>
      </p:nvGrpSpPr>
      <p:grpSpPr>
        <a:xfrm>
          <a:off x="0" y="0"/>
          <a:ext cx="0" cy="0"/>
          <a:chOff x="0" y="0"/>
          <a:chExt cx="0" cy="0"/>
        </a:xfrm>
      </p:grpSpPr>
      <p:sp>
        <p:nvSpPr>
          <p:cNvPr id="2" name="Text 0"/>
          <p:cNvSpPr/>
          <p:nvPr/>
        </p:nvSpPr>
        <p:spPr>
          <a:xfrm>
            <a:off x="1244600" y="1282700"/>
            <a:ext cx="10363200" cy="2247900"/>
          </a:xfrm>
          <a:prstGeom prst="rect">
            <a:avLst/>
          </a:prstGeom>
          <a:noFill/>
          <a:ln/>
        </p:spPr>
        <p:txBody>
          <a:bodyPr wrap="square" lIns="0" tIns="0" rIns="0" bIns="0" rtlCol="0" anchor="t"/>
          <a:lstStyle/>
          <a:p>
            <a:pPr>
              <a:lnSpc>
                <a:spcPct val="124000"/>
              </a:lnSpc>
            </a:pPr>
            <a:r>
              <a:rPr lang="en-US" sz="6800" dirty="0">
                <a:solidFill>
                  <a:srgbClr val="000000"/>
                </a:solidFill>
                <a:latin typeface="QuattrocentoSans" pitchFamily="34" charset="0"/>
                <a:ea typeface="QuattrocentoSans" pitchFamily="34" charset="-122"/>
                <a:cs typeface="QuattrocentoSans" pitchFamily="34" charset="-120"/>
              </a:rPr>
              <a:t>FUTURE ENHANCEMENTS</a:t>
            </a:r>
            <a:endParaRPr lang="en-US" sz="6800" dirty="0"/>
          </a:p>
        </p:txBody>
      </p:sp>
      <p:sp>
        <p:nvSpPr>
          <p:cNvPr id="3" name="Shape 1"/>
          <p:cNvSpPr/>
          <p:nvPr/>
        </p:nvSpPr>
        <p:spPr>
          <a:xfrm>
            <a:off x="11264900" y="1574800"/>
            <a:ext cx="9779000" cy="0"/>
          </a:xfrm>
          <a:prstGeom prst="straightConnector1">
            <a:avLst/>
          </a:prstGeom>
          <a:noFill/>
          <a:ln w="9525">
            <a:solidFill>
              <a:srgbClr val="000000"/>
            </a:solidFill>
            <a:prstDash val="solid"/>
            <a:headEnd type="none"/>
            <a:tailEnd type="none"/>
          </a:ln>
        </p:spPr>
      </p:sp>
      <p:sp>
        <p:nvSpPr>
          <p:cNvPr id="4" name="Text 2"/>
          <p:cNvSpPr/>
          <p:nvPr/>
        </p:nvSpPr>
        <p:spPr>
          <a:xfrm>
            <a:off x="8242300" y="2565400"/>
            <a:ext cx="5842000" cy="825500"/>
          </a:xfrm>
          <a:prstGeom prst="rect">
            <a:avLst/>
          </a:prstGeom>
          <a:noFill/>
          <a:ln/>
        </p:spPr>
        <p:txBody>
          <a:bodyPr wrap="none" lIns="0" tIns="0" rIns="0" bIns="0" rtlCol="0" anchor="t"/>
          <a:lstStyle/>
          <a:p>
            <a:pPr>
              <a:lnSpc>
                <a:spcPct val="140000"/>
              </a:lnSpc>
            </a:pPr>
            <a:r>
              <a:rPr lang="en-US" sz="4100" dirty="0">
                <a:solidFill>
                  <a:srgbClr val="000000"/>
                </a:solidFill>
                <a:latin typeface="QuattrocentoSans" pitchFamily="34" charset="0"/>
                <a:ea typeface="QuattrocentoSans" pitchFamily="34" charset="-122"/>
                <a:cs typeface="QuattrocentoSans" pitchFamily="34" charset="-120"/>
              </a:rPr>
              <a:t>Roadmap Ahead</a:t>
            </a:r>
            <a:endParaRPr lang="en-US" sz="4100" dirty="0"/>
          </a:p>
        </p:txBody>
      </p:sp>
      <p:sp>
        <p:nvSpPr>
          <p:cNvPr id="5" name="Text 3"/>
          <p:cNvSpPr/>
          <p:nvPr/>
        </p:nvSpPr>
        <p:spPr>
          <a:xfrm>
            <a:off x="18161000" y="1244600"/>
            <a:ext cx="5207000" cy="635000"/>
          </a:xfrm>
          <a:prstGeom prst="rect">
            <a:avLst/>
          </a:prstGeom>
          <a:noFill/>
          <a:ln/>
        </p:spPr>
        <p:txBody>
          <a:bodyPr wrap="none" lIns="0" tIns="0" rIns="0" bIns="0" rtlCol="0" anchor="t"/>
          <a:lstStyle/>
          <a:p>
            <a:pPr algn="r">
              <a:lnSpc>
                <a:spcPct val="140000"/>
              </a:lnSpc>
            </a:pPr>
            <a:r>
              <a:rPr lang="en-US" sz="2900" spc="400" kern="0" dirty="0">
                <a:solidFill>
                  <a:srgbClr val="000000"/>
                </a:solidFill>
                <a:latin typeface="Liter" pitchFamily="34" charset="0"/>
                <a:ea typeface="Liter" pitchFamily="34" charset="-122"/>
                <a:cs typeface="Liter" pitchFamily="34" charset="-120"/>
              </a:rPr>
              <a:t>PART 04</a:t>
            </a:r>
            <a:endParaRPr lang="en-US" sz="2900" dirty="0"/>
          </a:p>
        </p:txBody>
      </p:sp>
      <p:sp>
        <p:nvSpPr>
          <p:cNvPr id="6" name="Shape 4"/>
          <p:cNvSpPr/>
          <p:nvPr/>
        </p:nvSpPr>
        <p:spPr>
          <a:xfrm rot="5400000">
            <a:off x="1346200" y="3835400"/>
            <a:ext cx="368300" cy="330200"/>
          </a:xfrm>
          <a:prstGeom prst="triangle">
            <a:avLst>
              <a:gd name="adj" fmla="val 50000"/>
            </a:avLst>
          </a:prstGeom>
          <a:solidFill>
            <a:srgbClr val="004AAD"/>
          </a:solidFill>
          <a:ln/>
        </p:spPr>
      </p:sp>
      <p:sp>
        <p:nvSpPr>
          <p:cNvPr id="7" name="Shape 5"/>
          <p:cNvSpPr/>
          <p:nvPr/>
        </p:nvSpPr>
        <p:spPr>
          <a:xfrm rot="5400000">
            <a:off x="1854200" y="3835400"/>
            <a:ext cx="368300" cy="330200"/>
          </a:xfrm>
          <a:prstGeom prst="triangle">
            <a:avLst>
              <a:gd name="adj" fmla="val 50000"/>
            </a:avLst>
          </a:prstGeom>
          <a:solidFill>
            <a:srgbClr val="004AAD"/>
          </a:solidFill>
          <a:ln/>
        </p:spPr>
      </p:sp>
      <p:sp>
        <p:nvSpPr>
          <p:cNvPr id="8" name="Shape 6"/>
          <p:cNvSpPr/>
          <p:nvPr/>
        </p:nvSpPr>
        <p:spPr>
          <a:xfrm rot="5400000">
            <a:off x="2349500" y="3835400"/>
            <a:ext cx="368300" cy="330200"/>
          </a:xfrm>
          <a:prstGeom prst="triangle">
            <a:avLst>
              <a:gd name="adj" fmla="val 50000"/>
            </a:avLst>
          </a:prstGeom>
          <a:solidFill>
            <a:srgbClr val="004AAD"/>
          </a:solidFill>
          <a:ln/>
        </p:spPr>
      </p:sp>
      <p:sp>
        <p:nvSpPr>
          <p:cNvPr id="9" name="Shape 7"/>
          <p:cNvSpPr/>
          <p:nvPr/>
        </p:nvSpPr>
        <p:spPr>
          <a:xfrm rot="5400000">
            <a:off x="2857500" y="3835400"/>
            <a:ext cx="368300" cy="330200"/>
          </a:xfrm>
          <a:prstGeom prst="triangle">
            <a:avLst>
              <a:gd name="adj" fmla="val 50000"/>
            </a:avLst>
          </a:prstGeom>
          <a:solidFill>
            <a:srgbClr val="004AAD"/>
          </a:solidFill>
          <a:ln/>
        </p:spPr>
      </p:sp>
      <p:sp>
        <p:nvSpPr>
          <p:cNvPr id="10" name="Shape 8"/>
          <p:cNvSpPr/>
          <p:nvPr/>
        </p:nvSpPr>
        <p:spPr>
          <a:xfrm rot="5400000">
            <a:off x="3352800" y="3835400"/>
            <a:ext cx="368300" cy="330200"/>
          </a:xfrm>
          <a:prstGeom prst="triangle">
            <a:avLst>
              <a:gd name="adj" fmla="val 50000"/>
            </a:avLst>
          </a:prstGeom>
          <a:solidFill>
            <a:srgbClr val="004AAD"/>
          </a:solidFill>
          <a:ln/>
        </p:spPr>
      </p:sp>
      <p:sp>
        <p:nvSpPr>
          <p:cNvPr id="11" name="Shape 9"/>
          <p:cNvSpPr/>
          <p:nvPr/>
        </p:nvSpPr>
        <p:spPr>
          <a:xfrm rot="5400000">
            <a:off x="3860800" y="3835400"/>
            <a:ext cx="368300" cy="330200"/>
          </a:xfrm>
          <a:prstGeom prst="triangle">
            <a:avLst>
              <a:gd name="adj" fmla="val 50000"/>
            </a:avLst>
          </a:prstGeom>
          <a:solidFill>
            <a:srgbClr val="004AAD"/>
          </a:solidFill>
          <a:ln/>
        </p:spPr>
      </p:sp>
      <p:sp>
        <p:nvSpPr>
          <p:cNvPr id="12" name="Shape 10"/>
          <p:cNvSpPr/>
          <p:nvPr/>
        </p:nvSpPr>
        <p:spPr>
          <a:xfrm>
            <a:off x="1371600" y="4826000"/>
            <a:ext cx="6680200" cy="863600"/>
          </a:xfrm>
          <a:prstGeom prst="rect">
            <a:avLst/>
          </a:prstGeom>
          <a:solidFill>
            <a:srgbClr val="7EC8E3"/>
          </a:solidFill>
          <a:ln/>
        </p:spPr>
      </p:sp>
      <p:sp>
        <p:nvSpPr>
          <p:cNvPr id="13" name="Shape 11"/>
          <p:cNvSpPr/>
          <p:nvPr/>
        </p:nvSpPr>
        <p:spPr>
          <a:xfrm>
            <a:off x="1371600" y="4826000"/>
            <a:ext cx="190500" cy="863600"/>
          </a:xfrm>
          <a:prstGeom prst="rect">
            <a:avLst/>
          </a:prstGeom>
          <a:solidFill>
            <a:srgbClr val="48B2FF"/>
          </a:solidFill>
          <a:ln/>
        </p:spPr>
      </p:sp>
      <p:sp>
        <p:nvSpPr>
          <p:cNvPr id="14" name="Text 12"/>
          <p:cNvSpPr/>
          <p:nvPr/>
        </p:nvSpPr>
        <p:spPr>
          <a:xfrm>
            <a:off x="1803400" y="4864100"/>
            <a:ext cx="6096000" cy="711200"/>
          </a:xfrm>
          <a:prstGeom prst="rect">
            <a:avLst/>
          </a:prstGeom>
          <a:noFill/>
          <a:ln/>
        </p:spPr>
        <p:txBody>
          <a:bodyPr wrap="none" lIns="0" tIns="0" rIns="0" bIns="0" rtlCol="0" anchor="t"/>
          <a:lstStyle/>
          <a:p>
            <a:pPr>
              <a:lnSpc>
                <a:spcPct val="140000"/>
              </a:lnSpc>
            </a:pPr>
            <a:r>
              <a:rPr lang="en-US" sz="3500" dirty="0">
                <a:solidFill>
                  <a:srgbClr val="000000"/>
                </a:solidFill>
                <a:latin typeface="QuattrocentoSans" pitchFamily="34" charset="0"/>
                <a:ea typeface="QuattrocentoSans" pitchFamily="34" charset="-122"/>
                <a:cs typeface="QuattrocentoSans" pitchFamily="34" charset="-120"/>
              </a:rPr>
              <a:t>Advanced Hints System</a:t>
            </a:r>
            <a:endParaRPr lang="en-US" sz="3500" dirty="0"/>
          </a:p>
        </p:txBody>
      </p:sp>
      <p:sp>
        <p:nvSpPr>
          <p:cNvPr id="15" name="Text 13"/>
          <p:cNvSpPr/>
          <p:nvPr/>
        </p:nvSpPr>
        <p:spPr>
          <a:xfrm>
            <a:off x="1803400" y="5943600"/>
            <a:ext cx="6096000" cy="2667000"/>
          </a:xfrm>
          <a:prstGeom prst="rect">
            <a:avLst/>
          </a:prstGeom>
          <a:noFill/>
          <a:ln/>
        </p:spPr>
        <p:txBody>
          <a:bodyPr wrap="square" lIns="0" tIns="0" rIns="0" bIns="0" rtlCol="0" anchor="t"/>
          <a:lstStyle/>
          <a:p>
            <a:pPr algn="just">
              <a:lnSpc>
                <a:spcPct val="156000"/>
              </a:lnSpc>
            </a:pPr>
            <a:r>
              <a:rPr lang="en-US" sz="2700" dirty="0">
                <a:solidFill>
                  <a:srgbClr val="000000"/>
                </a:solidFill>
                <a:latin typeface="Liter" pitchFamily="34" charset="0"/>
                <a:ea typeface="Liter" pitchFamily="34" charset="-122"/>
                <a:cs typeface="Liter" pitchFamily="34" charset="-120"/>
              </a:rPr>
              <a:t>Implementing more sophisticated and contextual hints beyond simple actor names to aid players. Genre tags, release year clues, and director hints.</a:t>
            </a:r>
            <a:endParaRPr lang="en-US" sz="2700" dirty="0"/>
          </a:p>
        </p:txBody>
      </p:sp>
      <p:sp>
        <p:nvSpPr>
          <p:cNvPr id="16" name="Shape 14"/>
          <p:cNvSpPr/>
          <p:nvPr/>
        </p:nvSpPr>
        <p:spPr>
          <a:xfrm>
            <a:off x="8851900" y="4826000"/>
            <a:ext cx="6680200" cy="863600"/>
          </a:xfrm>
          <a:prstGeom prst="rect">
            <a:avLst/>
          </a:prstGeom>
          <a:solidFill>
            <a:srgbClr val="BFE4FF"/>
          </a:solidFill>
          <a:ln/>
        </p:spPr>
      </p:sp>
      <p:sp>
        <p:nvSpPr>
          <p:cNvPr id="17" name="Shape 15"/>
          <p:cNvSpPr/>
          <p:nvPr/>
        </p:nvSpPr>
        <p:spPr>
          <a:xfrm>
            <a:off x="8851900" y="4826000"/>
            <a:ext cx="190500" cy="863600"/>
          </a:xfrm>
          <a:prstGeom prst="rect">
            <a:avLst/>
          </a:prstGeom>
          <a:solidFill>
            <a:srgbClr val="48B2FF"/>
          </a:solidFill>
          <a:ln/>
        </p:spPr>
      </p:sp>
      <p:sp>
        <p:nvSpPr>
          <p:cNvPr id="18" name="Text 16"/>
          <p:cNvSpPr/>
          <p:nvPr/>
        </p:nvSpPr>
        <p:spPr>
          <a:xfrm>
            <a:off x="9283700" y="4864100"/>
            <a:ext cx="6096000" cy="711200"/>
          </a:xfrm>
          <a:prstGeom prst="rect">
            <a:avLst/>
          </a:prstGeom>
          <a:noFill/>
          <a:ln/>
        </p:spPr>
        <p:txBody>
          <a:bodyPr wrap="none" lIns="0" tIns="0" rIns="0" bIns="0" rtlCol="0" anchor="t"/>
          <a:lstStyle/>
          <a:p>
            <a:pPr>
              <a:lnSpc>
                <a:spcPct val="140000"/>
              </a:lnSpc>
            </a:pPr>
            <a:r>
              <a:rPr lang="en-US" sz="3500" dirty="0">
                <a:solidFill>
                  <a:srgbClr val="000000"/>
                </a:solidFill>
                <a:latin typeface="QuattrocentoSans" pitchFamily="34" charset="0"/>
                <a:ea typeface="QuattrocentoSans" pitchFamily="34" charset="-122"/>
                <a:cs typeface="QuattrocentoSans" pitchFamily="34" charset="-120"/>
              </a:rPr>
              <a:t>Sophisticated Scoring</a:t>
            </a:r>
            <a:endParaRPr lang="en-US" sz="3500" dirty="0"/>
          </a:p>
        </p:txBody>
      </p:sp>
      <p:sp>
        <p:nvSpPr>
          <p:cNvPr id="19" name="Text 17"/>
          <p:cNvSpPr/>
          <p:nvPr/>
        </p:nvSpPr>
        <p:spPr>
          <a:xfrm>
            <a:off x="9283700" y="5943600"/>
            <a:ext cx="6096000" cy="2667000"/>
          </a:xfrm>
          <a:prstGeom prst="rect">
            <a:avLst/>
          </a:prstGeom>
          <a:noFill/>
          <a:ln/>
        </p:spPr>
        <p:txBody>
          <a:bodyPr wrap="square" lIns="0" tIns="0" rIns="0" bIns="0" rtlCol="0" anchor="t"/>
          <a:lstStyle/>
          <a:p>
            <a:pPr algn="just">
              <a:lnSpc>
                <a:spcPct val="156000"/>
              </a:lnSpc>
            </a:pPr>
            <a:r>
              <a:rPr lang="en-US" sz="2700" dirty="0">
                <a:solidFill>
                  <a:srgbClr val="000000"/>
                </a:solidFill>
                <a:latin typeface="Liter" pitchFamily="34" charset="0"/>
                <a:ea typeface="Liter" pitchFamily="34" charset="-122"/>
                <a:cs typeface="Liter" pitchFamily="34" charset="-120"/>
              </a:rPr>
              <a:t>Introducing detailed scoring mechanisms, score multipliers based on difficulty, time bonuses, and leaderboards for competitive play.</a:t>
            </a:r>
            <a:endParaRPr lang="en-US" sz="2700" dirty="0"/>
          </a:p>
        </p:txBody>
      </p:sp>
      <p:sp>
        <p:nvSpPr>
          <p:cNvPr id="20" name="Shape 18"/>
          <p:cNvSpPr/>
          <p:nvPr/>
        </p:nvSpPr>
        <p:spPr>
          <a:xfrm>
            <a:off x="16332200" y="4826000"/>
            <a:ext cx="6680200" cy="863600"/>
          </a:xfrm>
          <a:prstGeom prst="rect">
            <a:avLst/>
          </a:prstGeom>
          <a:solidFill>
            <a:srgbClr val="7EC8E3"/>
          </a:solidFill>
          <a:ln/>
        </p:spPr>
      </p:sp>
      <p:sp>
        <p:nvSpPr>
          <p:cNvPr id="21" name="Shape 19"/>
          <p:cNvSpPr/>
          <p:nvPr/>
        </p:nvSpPr>
        <p:spPr>
          <a:xfrm>
            <a:off x="16332200" y="4826000"/>
            <a:ext cx="190500" cy="863600"/>
          </a:xfrm>
          <a:prstGeom prst="rect">
            <a:avLst/>
          </a:prstGeom>
          <a:solidFill>
            <a:srgbClr val="48B2FF"/>
          </a:solidFill>
          <a:ln/>
        </p:spPr>
      </p:sp>
      <p:sp>
        <p:nvSpPr>
          <p:cNvPr id="22" name="Text 20"/>
          <p:cNvSpPr/>
          <p:nvPr/>
        </p:nvSpPr>
        <p:spPr>
          <a:xfrm>
            <a:off x="16764000" y="4864100"/>
            <a:ext cx="6096000" cy="711200"/>
          </a:xfrm>
          <a:prstGeom prst="rect">
            <a:avLst/>
          </a:prstGeom>
          <a:noFill/>
          <a:ln/>
        </p:spPr>
        <p:txBody>
          <a:bodyPr wrap="none" lIns="0" tIns="0" rIns="0" bIns="0" rtlCol="0" anchor="t"/>
          <a:lstStyle/>
          <a:p>
            <a:pPr>
              <a:lnSpc>
                <a:spcPct val="140000"/>
              </a:lnSpc>
            </a:pPr>
            <a:r>
              <a:rPr lang="en-US" sz="3500" dirty="0">
                <a:solidFill>
                  <a:srgbClr val="000000"/>
                </a:solidFill>
                <a:latin typeface="QuattrocentoSans" pitchFamily="34" charset="0"/>
                <a:ea typeface="QuattrocentoSans" pitchFamily="34" charset="-122"/>
                <a:cs typeface="QuattrocentoSans" pitchFamily="34" charset="-120"/>
              </a:rPr>
              <a:t>Multiplayer Support</a:t>
            </a:r>
            <a:endParaRPr lang="en-US" sz="3500" dirty="0"/>
          </a:p>
        </p:txBody>
      </p:sp>
      <p:sp>
        <p:nvSpPr>
          <p:cNvPr id="23" name="Text 21"/>
          <p:cNvSpPr/>
          <p:nvPr/>
        </p:nvSpPr>
        <p:spPr>
          <a:xfrm>
            <a:off x="16764000" y="5943600"/>
            <a:ext cx="6096000" cy="2667000"/>
          </a:xfrm>
          <a:prstGeom prst="rect">
            <a:avLst/>
          </a:prstGeom>
          <a:noFill/>
          <a:ln/>
        </p:spPr>
        <p:txBody>
          <a:bodyPr wrap="square" lIns="0" tIns="0" rIns="0" bIns="0" rtlCol="0" anchor="t"/>
          <a:lstStyle/>
          <a:p>
            <a:pPr algn="just">
              <a:lnSpc>
                <a:spcPct val="156000"/>
              </a:lnSpc>
            </a:pPr>
            <a:r>
              <a:rPr lang="en-US" sz="2700" dirty="0">
                <a:solidFill>
                  <a:srgbClr val="000000"/>
                </a:solidFill>
                <a:latin typeface="Liter" pitchFamily="34" charset="0"/>
                <a:ea typeface="Liter" pitchFamily="34" charset="-122"/>
                <a:cs typeface="Liter" pitchFamily="34" charset="-120"/>
              </a:rPr>
              <a:t>Integrating online functionality to allow multiple users to play simultaneously or compete head-to-head in real-time film guessing battles.</a:t>
            </a:r>
            <a:endParaRPr lang="en-US" sz="2700" dirty="0"/>
          </a:p>
        </p:txBody>
      </p:sp>
      <p:sp>
        <p:nvSpPr>
          <p:cNvPr id="24" name="Shape 22"/>
          <p:cNvSpPr/>
          <p:nvPr/>
        </p:nvSpPr>
        <p:spPr>
          <a:xfrm>
            <a:off x="1371600" y="8890000"/>
            <a:ext cx="21640800" cy="863600"/>
          </a:xfrm>
          <a:prstGeom prst="rect">
            <a:avLst/>
          </a:prstGeom>
          <a:solidFill>
            <a:srgbClr val="004AAD"/>
          </a:solidFill>
          <a:ln/>
        </p:spPr>
      </p:sp>
      <p:sp>
        <p:nvSpPr>
          <p:cNvPr id="25" name="Text 23"/>
          <p:cNvSpPr/>
          <p:nvPr/>
        </p:nvSpPr>
        <p:spPr>
          <a:xfrm>
            <a:off x="1803400" y="8928100"/>
            <a:ext cx="20955000" cy="711200"/>
          </a:xfrm>
          <a:prstGeom prst="rect">
            <a:avLst/>
          </a:prstGeom>
          <a:noFill/>
          <a:ln/>
        </p:spPr>
        <p:txBody>
          <a:bodyPr wrap="none" lIns="0" tIns="0" rIns="0" bIns="0" rtlCol="0" anchor="ctr"/>
          <a:lstStyle/>
          <a:p>
            <a:pPr>
              <a:lnSpc>
                <a:spcPct val="100000"/>
              </a:lnSpc>
            </a:pPr>
            <a:r>
              <a:rPr lang="en-US" sz="2800" dirty="0">
                <a:solidFill>
                  <a:srgbClr val="FFFFFF"/>
                </a:solidFill>
                <a:latin typeface="Quattrocento Sans" pitchFamily="34" charset="0"/>
                <a:ea typeface="Quattrocento Sans" pitchFamily="34" charset="-122"/>
                <a:cs typeface="Quattrocento Sans" pitchFamily="34" charset="-120"/>
              </a:rPr>
              <a:t>Building on a solid foundation for expanded game complexity and user interaction</a:t>
            </a:r>
            <a:endParaRPr lang="en-US" sz="1600" dirty="0"/>
          </a:p>
        </p:txBody>
      </p:sp>
      <p:sp>
        <p:nvSpPr>
          <p:cNvPr id="26" name="Text 24"/>
          <p:cNvSpPr/>
          <p:nvPr/>
        </p:nvSpPr>
        <p:spPr>
          <a:xfrm>
            <a:off x="1371600" y="10160000"/>
            <a:ext cx="21640800" cy="2159000"/>
          </a:xfrm>
          <a:prstGeom prst="rect">
            <a:avLst/>
          </a:prstGeom>
          <a:noFill/>
          <a:ln/>
        </p:spPr>
        <p:txBody>
          <a:bodyPr wrap="square" lIns="0" tIns="0" rIns="0" bIns="0" rtlCol="0" anchor="t"/>
          <a:lstStyle/>
          <a:p>
            <a:pPr algn="just">
              <a:lnSpc>
                <a:spcPct val="156000"/>
              </a:lnSpc>
            </a:pPr>
            <a:r>
              <a:rPr lang="en-US" sz="2700" dirty="0">
                <a:solidFill>
                  <a:srgbClr val="000000"/>
                </a:solidFill>
                <a:latin typeface="Liter" pitchFamily="34" charset="0"/>
                <a:ea typeface="Liter" pitchFamily="34" charset="-122"/>
                <a:cs typeface="Liter" pitchFamily="34" charset="-120"/>
              </a:rPr>
              <a:t>These enhancements represent the natural evolution of the Film Guessing Game. The modular architecture and clean codebase make these features straightforward to implement, ensuring the game can grow with its player community.</a:t>
            </a:r>
            <a:endParaRPr lang="en-US" sz="2700" dirty="0"/>
          </a:p>
        </p:txBody>
      </p:sp>
    </p:spTree>
  </p:cSld>
  <p:clrMapOvr>
    <a:masterClrMapping/>
  </p:clrMapOvr>
  <p:transition>
    <p:fade/>
    <p:spd val="med"/>
  </p:transition>
</p:sld>
</file>

<file path=ppt/slides/slide16.xml><?xml version="1.0" encoding="utf-8"?>
<p:sld xmlns:a="http://schemas.openxmlformats.org/drawingml/2006/main" xmlns:r="http://schemas.openxmlformats.org/officeDocument/2006/relationships" xmlns:p="http://schemas.openxmlformats.org/presentationml/2006/main">
  <p:cSld name="Slide 16">
    <p:bg>
      <p:bgPr>
        <a:gradFill rotWithShape="1" flip="none">
          <a:gsLst>
            <a:gs pos="0">
              <a:srgbClr val="FFFFFF"/>
            </a:gs>
            <a:gs pos="50000">
              <a:srgbClr val="EAF4FF"/>
            </a:gs>
            <a:gs pos="100000">
              <a:srgbClr val="C7E2FF"/>
            </a:gs>
          </a:gsLst>
          <a:path path="circle"/>
        </a:gradFill>
      </p:bgPr>
    </p:bg>
    <p:spTree>
      <p:nvGrpSpPr>
        <p:cNvPr id="1" name=""/>
        <p:cNvGrpSpPr/>
        <p:nvPr/>
      </p:nvGrpSpPr>
      <p:grpSpPr>
        <a:xfrm>
          <a:off x="0" y="0"/>
          <a:ext cx="0" cy="0"/>
          <a:chOff x="0" y="0"/>
          <a:chExt cx="0" cy="0"/>
        </a:xfrm>
      </p:grpSpPr>
      <p:sp>
        <p:nvSpPr>
          <p:cNvPr id="2" name="Text 0"/>
          <p:cNvSpPr/>
          <p:nvPr/>
        </p:nvSpPr>
        <p:spPr>
          <a:xfrm>
            <a:off x="1244600" y="3556000"/>
            <a:ext cx="21894800" cy="1295400"/>
          </a:xfrm>
          <a:prstGeom prst="rect">
            <a:avLst/>
          </a:prstGeom>
          <a:noFill/>
          <a:ln/>
        </p:spPr>
        <p:txBody>
          <a:bodyPr wrap="none" lIns="0" tIns="0" rIns="0" bIns="0" rtlCol="0" anchor="t"/>
          <a:lstStyle/>
          <a:p>
            <a:pPr algn="ctr">
              <a:lnSpc>
                <a:spcPct val="100000"/>
              </a:lnSpc>
            </a:pPr>
            <a:r>
              <a:rPr lang="en-US" sz="8700" spc="100" kern="0" dirty="0">
                <a:solidFill>
                  <a:srgbClr val="000000"/>
                </a:solidFill>
                <a:latin typeface="Quattrocento Sans" pitchFamily="34" charset="0"/>
                <a:ea typeface="Quattrocento Sans" pitchFamily="34" charset="-122"/>
                <a:cs typeface="Quattrocento Sans" pitchFamily="34" charset="-120"/>
              </a:rPr>
              <a:t>THANK YOU FOR LISTENING</a:t>
            </a:r>
            <a:endParaRPr lang="en-US" sz="1600" dirty="0"/>
          </a:p>
        </p:txBody>
      </p:sp>
      <p:sp>
        <p:nvSpPr>
          <p:cNvPr id="3" name="Text 1"/>
          <p:cNvSpPr/>
          <p:nvPr/>
        </p:nvSpPr>
        <p:spPr>
          <a:xfrm>
            <a:off x="1244600" y="4965700"/>
            <a:ext cx="19824700" cy="2489200"/>
          </a:xfrm>
          <a:prstGeom prst="rect">
            <a:avLst/>
          </a:prstGeom>
          <a:noFill/>
          <a:ln/>
        </p:spPr>
        <p:txBody>
          <a:bodyPr wrap="square" lIns="0" tIns="0" rIns="0" bIns="0" rtlCol="0" anchor="t"/>
          <a:lstStyle/>
          <a:p>
            <a:pPr>
              <a:lnSpc>
                <a:spcPct val="140000"/>
              </a:lnSpc>
            </a:pPr>
            <a:r>
              <a:rPr lang="en-US" sz="9400" spc="1000" kern="0" dirty="0">
                <a:solidFill>
                  <a:srgbClr val="000000"/>
                </a:solidFill>
                <a:latin typeface="QuattrocentoSans" pitchFamily="34" charset="0"/>
                <a:ea typeface="QuattrocentoSans" pitchFamily="34" charset="-122"/>
                <a:cs typeface="QuattrocentoSans" pitchFamily="34" charset="-120"/>
              </a:rPr>
              <a:t>Film Guessing Game</a:t>
            </a:r>
            <a:endParaRPr lang="en-US" sz="9400" dirty="0"/>
          </a:p>
        </p:txBody>
      </p:sp>
      <p:sp>
        <p:nvSpPr>
          <p:cNvPr id="4" name="Shape 2"/>
          <p:cNvSpPr/>
          <p:nvPr/>
        </p:nvSpPr>
        <p:spPr>
          <a:xfrm>
            <a:off x="1371600" y="7924800"/>
            <a:ext cx="5689600" cy="1028700"/>
          </a:xfrm>
          <a:prstGeom prst="rect">
            <a:avLst/>
          </a:prstGeom>
          <a:solidFill>
            <a:srgbClr val="7EC8E3"/>
          </a:solidFill>
          <a:ln/>
        </p:spPr>
      </p:sp>
      <p:sp>
        <p:nvSpPr>
          <p:cNvPr id="5" name="Shape 3"/>
          <p:cNvSpPr/>
          <p:nvPr/>
        </p:nvSpPr>
        <p:spPr>
          <a:xfrm>
            <a:off x="1371600" y="7924800"/>
            <a:ext cx="228600" cy="1028700"/>
          </a:xfrm>
          <a:prstGeom prst="rect">
            <a:avLst/>
          </a:prstGeom>
          <a:solidFill>
            <a:srgbClr val="48B2FF"/>
          </a:solidFill>
          <a:ln/>
        </p:spPr>
      </p:sp>
      <p:sp>
        <p:nvSpPr>
          <p:cNvPr id="6" name="Text 4"/>
          <p:cNvSpPr/>
          <p:nvPr/>
        </p:nvSpPr>
        <p:spPr>
          <a:xfrm>
            <a:off x="1803400" y="8102600"/>
            <a:ext cx="5080000" cy="635000"/>
          </a:xfrm>
          <a:prstGeom prst="rect">
            <a:avLst/>
          </a:prstGeom>
          <a:noFill/>
          <a:ln/>
        </p:spPr>
        <p:txBody>
          <a:bodyPr wrap="none" lIns="0" tIns="0" rIns="0" bIns="0" rtlCol="0" anchor="ctr"/>
          <a:lstStyle/>
          <a:p>
            <a:pPr>
              <a:lnSpc>
                <a:spcPct val="100000"/>
              </a:lnSpc>
            </a:pPr>
            <a:r>
              <a:rPr lang="en-US" sz="2800" dirty="0">
                <a:solidFill>
                  <a:srgbClr val="000000"/>
                </a:solidFill>
                <a:latin typeface="Liter" pitchFamily="34" charset="0"/>
                <a:ea typeface="Liter" pitchFamily="34" charset="-122"/>
                <a:cs typeface="Liter" pitchFamily="34" charset="-120"/>
              </a:rPr>
              <a:t>JavaFX + MySQL Project</a:t>
            </a:r>
            <a:endParaRPr lang="en-US" sz="1600" dirty="0"/>
          </a:p>
        </p:txBody>
      </p:sp>
      <p:sp>
        <p:nvSpPr>
          <p:cNvPr id="7" name="Shape 5"/>
          <p:cNvSpPr/>
          <p:nvPr/>
        </p:nvSpPr>
        <p:spPr>
          <a:xfrm>
            <a:off x="7696200" y="7924800"/>
            <a:ext cx="5689600" cy="1028700"/>
          </a:xfrm>
          <a:prstGeom prst="rect">
            <a:avLst/>
          </a:prstGeom>
          <a:solidFill>
            <a:srgbClr val="7EC8E3"/>
          </a:solidFill>
          <a:ln/>
        </p:spPr>
      </p:sp>
      <p:sp>
        <p:nvSpPr>
          <p:cNvPr id="8" name="Shape 6"/>
          <p:cNvSpPr/>
          <p:nvPr/>
        </p:nvSpPr>
        <p:spPr>
          <a:xfrm>
            <a:off x="7696200" y="7924800"/>
            <a:ext cx="228600" cy="1028700"/>
          </a:xfrm>
          <a:prstGeom prst="rect">
            <a:avLst/>
          </a:prstGeom>
          <a:solidFill>
            <a:srgbClr val="48B2FF"/>
          </a:solidFill>
          <a:ln/>
        </p:spPr>
      </p:sp>
      <p:sp>
        <p:nvSpPr>
          <p:cNvPr id="9" name="Text 7"/>
          <p:cNvSpPr/>
          <p:nvPr/>
        </p:nvSpPr>
        <p:spPr>
          <a:xfrm>
            <a:off x="8128000" y="8102600"/>
            <a:ext cx="5080000" cy="635000"/>
          </a:xfrm>
          <a:prstGeom prst="rect">
            <a:avLst/>
          </a:prstGeom>
          <a:noFill/>
          <a:ln/>
        </p:spPr>
        <p:txBody>
          <a:bodyPr wrap="none" lIns="0" tIns="0" rIns="0" bIns="0" rtlCol="0" anchor="ctr"/>
          <a:lstStyle/>
          <a:p>
            <a:pPr>
              <a:lnSpc>
                <a:spcPct val="100000"/>
              </a:lnSpc>
            </a:pPr>
            <a:r>
              <a:rPr lang="en-US" sz="2800" dirty="0">
                <a:solidFill>
                  <a:srgbClr val="000000"/>
                </a:solidFill>
                <a:latin typeface="Liter" pitchFamily="34" charset="0"/>
                <a:ea typeface="Liter" pitchFamily="34" charset="-122"/>
                <a:cs typeface="Liter" pitchFamily="34" charset="-120"/>
              </a:rPr>
              <a:t>Questions Welcome</a:t>
            </a:r>
            <a:endParaRPr lang="en-US" sz="1600" dirty="0"/>
          </a:p>
        </p:txBody>
      </p:sp>
      <p:sp>
        <p:nvSpPr>
          <p:cNvPr id="10" name="Shape 8"/>
          <p:cNvSpPr/>
          <p:nvPr/>
        </p:nvSpPr>
        <p:spPr>
          <a:xfrm>
            <a:off x="1371600" y="12026900"/>
            <a:ext cx="21640800" cy="0"/>
          </a:xfrm>
          <a:prstGeom prst="straightConnector1">
            <a:avLst/>
          </a:prstGeom>
          <a:noFill/>
          <a:ln w="19050">
            <a:solidFill>
              <a:srgbClr val="000000"/>
            </a:solidFill>
            <a:prstDash val="solid"/>
            <a:headEnd type="none"/>
            <a:tailEnd type="none"/>
          </a:ln>
        </p:spPr>
      </p:sp>
      <p:sp>
        <p:nvSpPr>
          <p:cNvPr id="11" name="Text 9"/>
          <p:cNvSpPr/>
          <p:nvPr/>
        </p:nvSpPr>
        <p:spPr>
          <a:xfrm>
            <a:off x="1244600" y="12217400"/>
            <a:ext cx="9804400" cy="635000"/>
          </a:xfrm>
          <a:prstGeom prst="rect">
            <a:avLst/>
          </a:prstGeom>
          <a:noFill/>
          <a:ln/>
        </p:spPr>
        <p:txBody>
          <a:bodyPr wrap="none" lIns="0" tIns="0" rIns="0" bIns="0" rtlCol="0" anchor="ctr"/>
          <a:lstStyle/>
          <a:p>
            <a:pPr>
              <a:lnSpc>
                <a:spcPct val="100000"/>
              </a:lnSpc>
            </a:pPr>
            <a:r>
              <a:rPr lang="en-US" sz="2400" spc="800" kern="0" dirty="0">
                <a:solidFill>
                  <a:srgbClr val="000000"/>
                </a:solidFill>
                <a:latin typeface="Liter" pitchFamily="34" charset="0"/>
                <a:ea typeface="Liter" pitchFamily="34" charset="-122"/>
                <a:cs typeface="Liter" pitchFamily="34" charset="-120"/>
              </a:rPr>
              <a:t>INTERACTIVE | DESKTOP | GAME</a:t>
            </a:r>
            <a:endParaRPr lang="en-US" sz="1600" dirty="0"/>
          </a:p>
        </p:txBody>
      </p:sp>
      <p:sp>
        <p:nvSpPr>
          <p:cNvPr id="12" name="Text 10"/>
          <p:cNvSpPr/>
          <p:nvPr/>
        </p:nvSpPr>
        <p:spPr>
          <a:xfrm>
            <a:off x="13804900" y="12217400"/>
            <a:ext cx="9321800" cy="635000"/>
          </a:xfrm>
          <a:prstGeom prst="rect">
            <a:avLst/>
          </a:prstGeom>
          <a:noFill/>
          <a:ln/>
        </p:spPr>
        <p:txBody>
          <a:bodyPr wrap="none" lIns="0" tIns="0" rIns="0" bIns="0" rtlCol="0" anchor="ctr"/>
          <a:lstStyle/>
          <a:p>
            <a:pPr algn="r">
              <a:lnSpc>
                <a:spcPct val="100000"/>
              </a:lnSpc>
            </a:pPr>
            <a:r>
              <a:rPr lang="en-US" sz="2400" spc="800" kern="0" dirty="0">
                <a:solidFill>
                  <a:srgbClr val="000000"/>
                </a:solidFill>
                <a:latin typeface="Liter" pitchFamily="34" charset="0"/>
                <a:ea typeface="Liter" pitchFamily="34" charset="-122"/>
                <a:cs typeface="Liter" pitchFamily="34" charset="-120"/>
              </a:rPr>
              <a:t>Film Guessing Game Project</a:t>
            </a:r>
            <a:endParaRPr lang="en-US" sz="1600" dirty="0"/>
          </a:p>
        </p:txBody>
      </p:sp>
    </p:spTree>
  </p:cSld>
  <p:clrMapOvr>
    <a:masterClrMapping/>
  </p:clrMapOvr>
  <p:transition>
    <p:fade/>
    <p:spd val="med"/>
  </p:transition>
</p:sld>
</file>

<file path=ppt/theme/theme1.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Film Guessing Game - Interactive JavaFX Application</dc:title>
  <dc:subject>Film Guessing Game - Interactive JavaFX Application</dc:subject>
  <dc:creator>Kimi</dc:creator>
  <cp:lastModifiedBy>Kimi</cp:lastModifiedBy>
  <cp:revision>1</cp:revision>
  <dcterms:created xsi:type="dcterms:W3CDTF">2026-04-26T03:10:20Z</dcterms:created>
  <dcterms:modified xsi:type="dcterms:W3CDTF">2026-04-26T03:10:20Z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4" name="AIGC">
    <vt:lpwstr>{"Label":"Film Guessing Game - Interactive JavaFX Application","ContentProducer":"001191110108MACG2KBH8F10000","ProduceID":"19dc7c2f-2c02-8610-8000-0000ee0896de","ReservedCode1":"","ContentPropagator":"001191110108MACG2KBH8F20000","PropagateID":"19dc7c2f-2c02-8610-8000-0000ee0896de","ReservedCode2":""}</vt:lpwstr>
  </property>
</Properties>
</file>